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2" r:id="rId2"/>
    <p:sldId id="284" r:id="rId3"/>
    <p:sldId id="289" r:id="rId4"/>
    <p:sldId id="290" r:id="rId5"/>
    <p:sldId id="291" r:id="rId6"/>
    <p:sldId id="283" r:id="rId7"/>
    <p:sldId id="287" r:id="rId8"/>
    <p:sldId id="286" r:id="rId9"/>
    <p:sldId id="288" r:id="rId10"/>
    <p:sldId id="292" r:id="rId11"/>
    <p:sldId id="257" r:id="rId12"/>
    <p:sldId id="303" r:id="rId13"/>
    <p:sldId id="301" r:id="rId14"/>
    <p:sldId id="304" r:id="rId15"/>
    <p:sldId id="305" r:id="rId16"/>
    <p:sldId id="302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5111D5-DAD7-4555-AE87-946BCBF21B20}">
          <p14:sldIdLst>
            <p14:sldId id="282"/>
            <p14:sldId id="284"/>
            <p14:sldId id="289"/>
            <p14:sldId id="290"/>
            <p14:sldId id="291"/>
            <p14:sldId id="283"/>
            <p14:sldId id="287"/>
            <p14:sldId id="286"/>
            <p14:sldId id="288"/>
            <p14:sldId id="292"/>
          </p14:sldIdLst>
        </p14:section>
        <p14:section name="Attributes &amp; methods" id="{1A5FCDB6-4649-4DB8-A161-C24B303CB5A2}">
          <p14:sldIdLst>
            <p14:sldId id="257"/>
            <p14:sldId id="303"/>
            <p14:sldId id="301"/>
            <p14:sldId id="304"/>
            <p14:sldId id="305"/>
            <p14:sldId id="302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0749A3-3E0B-49F8-A589-395979831F6B}" v="3" dt="2026-10-07T10:11:11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215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lwa Twala" userId="f08b58baa3fce337" providerId="LiveId" clId="{A5BE035C-68C2-4E15-BE5D-65719EB84DEE}"/>
    <pc:docChg chg="modSld">
      <pc:chgData name="Lindelwa Twala" userId="f08b58baa3fce337" providerId="LiveId" clId="{A5BE035C-68C2-4E15-BE5D-65719EB84DEE}" dt="2026-10-07T09:50:20.822" v="1"/>
      <pc:docMkLst>
        <pc:docMk/>
      </pc:docMkLst>
      <pc:sldChg chg="modSp">
        <pc:chgData name="Lindelwa Twala" userId="f08b58baa3fce337" providerId="LiveId" clId="{A5BE035C-68C2-4E15-BE5D-65719EB84DEE}" dt="2026-10-07T09:49:01.093" v="0"/>
        <pc:sldMkLst>
          <pc:docMk/>
          <pc:sldMk cId="2590728110" sldId="308"/>
        </pc:sldMkLst>
        <pc:spChg chg="mod">
          <ac:chgData name="Lindelwa Twala" userId="f08b58baa3fce337" providerId="LiveId" clId="{A5BE035C-68C2-4E15-BE5D-65719EB84DEE}" dt="2026-10-07T09:49:01.093" v="0"/>
          <ac:spMkLst>
            <pc:docMk/>
            <pc:sldMk cId="2590728110" sldId="308"/>
            <ac:spMk id="3" creationId="{FEA90590-3940-BA6A-2A8C-F33DFA051EAC}"/>
          </ac:spMkLst>
        </pc:spChg>
      </pc:sldChg>
      <pc:sldChg chg="modSp">
        <pc:chgData name="Lindelwa Twala" userId="f08b58baa3fce337" providerId="LiveId" clId="{A5BE035C-68C2-4E15-BE5D-65719EB84DEE}" dt="2026-10-07T09:50:20.822" v="1"/>
        <pc:sldMkLst>
          <pc:docMk/>
          <pc:sldMk cId="68261889" sldId="309"/>
        </pc:sldMkLst>
        <pc:spChg chg="mod">
          <ac:chgData name="Lindelwa Twala" userId="f08b58baa3fce337" providerId="LiveId" clId="{A5BE035C-68C2-4E15-BE5D-65719EB84DEE}" dt="2026-10-07T09:50:20.822" v="1"/>
          <ac:spMkLst>
            <pc:docMk/>
            <pc:sldMk cId="68261889" sldId="309"/>
            <ac:spMk id="3" creationId="{56936AC3-2E92-C2DC-0D2A-30BF9321D6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6A2A8-070A-40A9-8F32-8BEBCEFFEF34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267C6-750B-41FF-8B55-C8FB696169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217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3D0C-2330-F0A0-68CC-177DF4D3B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EA361-7DE5-FCFB-6ADA-88B7D3922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C5D99-95C3-617A-AE57-26E9E6A7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39217-169D-0569-E9F9-C716B2BE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BCDD6-89E8-7F4C-5CFE-716D7955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313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1454-0DA7-CACD-ACA6-9DBC1D3A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EBF7-DE9A-53F4-4099-269F6B3BC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9525D-1271-F74E-CC24-A89A0C97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4CFB6-F5E7-C0C6-E5A6-058BABC7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73B1-FE90-D2EA-2121-68996B4B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159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D555-557B-03FD-7E32-487AC2FD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46F3-6A2A-1D6D-B456-39472DB3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BBDB-C4CE-31D9-AEAC-088E657C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72811-C177-FF46-1AE6-B986CE7D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EFCC0-0CA6-74D8-1569-452A478B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45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BCA1-3890-FAAF-8E6D-A058C112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5E5E-3B6E-BC84-41F7-3D407BBF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09550-5F8A-4F1C-06E4-73D6DDB3D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508A0-D7FC-F690-76E6-328F9B3F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88456-468E-5D79-5C20-D5FC976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4C193-0A08-7706-C60C-CB137F9E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128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1955-BF42-F3E4-8224-3C2BD218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5D4D3-E9D6-7450-D3A4-D5CEB5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34FCA-99D4-A36A-7230-466CE8261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640E2-5988-D84B-24F6-388141566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0A645-FEA8-2A35-B69F-7F9EA3173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ED640-DC98-E8F7-E5D8-AB184D4D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C2B19-4567-32F3-D9A2-0F16FD8E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FAC91-7329-F63D-6469-96E62A5C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54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6865-94A4-24A3-5524-1C77ADCC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5A6C5-0C8D-0102-96C3-3AF1E936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146FD-5694-87D0-ACC3-B98E733C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43889-A3C2-7C1D-E130-731033EE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102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94E0B-2FC4-5927-F4A5-54694A0D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4334C-E074-B838-5CA0-5D02C59D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BAC8E-0FDC-B042-D2AF-21979492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244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3616-2799-C328-0EAA-DC8F6B9C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E2CE-6DDD-9240-7617-B7A128EB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20B20-947C-1612-A973-0A4C1AC11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0FF63-5C65-77D1-A761-951AC999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16C1-68EC-9044-1E70-53384D8D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6AE6E-80B3-CF19-2A39-CA275B9F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383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54F3-A98C-9EF8-408F-76E689B1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1E55B-421A-FEE4-8A0C-0B107EE5E9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8EEF9-B56C-B3F2-3ADA-FC66EB244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39DC0-BF29-2B46-6C7D-2B602279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85CD1-5CCB-7B7F-1088-32E4600B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9A9D-CEF9-0F94-CBD6-4DCF32B9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848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D0A4-E0EE-9B00-C33E-01E402B1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AAF49-80AD-3806-AF04-9AE658E4B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C074-3193-39DD-BE18-54936355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82B1-37F3-84CF-BCA5-F59A907A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D0E70-521A-D686-F883-9BEB8238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528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89110A-EB01-119A-97D5-B04A48D31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E5061-83CE-2D71-C51E-50C6FE3DA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F077-B29E-136B-D0D4-02719B1A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6F016-9E5A-465B-9572-FE824B22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213B-8D71-1B03-A0F0-EE80CE2B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60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8F651-1FAE-587E-4AD7-E9EEA2CE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E5462-C3AE-DCB0-CFF3-66FD95FB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4BD38-FE31-634C-B5B4-0F8FDEBD7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BA91E-F9E8-4028-9599-BD6BD482E27A}" type="datetimeFigureOut">
              <a:rPr lang="en-ZA" smtClean="0"/>
              <a:t>2026/10/06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ADD12-592C-B34E-87CD-AC93D7B6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27D4-5062-3F12-B38F-06C8F1BBD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832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f0TrMH9s-V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D351-529E-79BF-6944-71995C5F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1F14-6F0D-F971-842A-04F107D82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Introduction to Object-Oriented Programming (OOP)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354739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53ED-DA45-76AC-4E1A-EE78BA7D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5313-A422-5C43-B040-D62AF1D2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ZA" b="1" dirty="0"/>
              <a:t>1. Procedural Programming</a:t>
            </a:r>
          </a:p>
          <a:p>
            <a:r>
              <a:rPr lang="en-ZA" dirty="0"/>
              <a:t>Code as a sequence of step-by-step instructions/procedures (functions) that operate on data. No bundling of data and behavior.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C, Pascal, early BASIC</a:t>
            </a:r>
          </a:p>
          <a:p>
            <a:pPr lvl="0"/>
            <a:r>
              <a:rPr lang="en-ZA" b="1" dirty="0"/>
              <a:t>Core idea:</a:t>
            </a:r>
            <a:r>
              <a:rPr lang="en-ZA" dirty="0"/>
              <a:t> "Do this, then this, then this."</a:t>
            </a:r>
          </a:p>
          <a:p>
            <a:r>
              <a:rPr lang="en-ZA" b="1" dirty="0"/>
              <a:t>C</a:t>
            </a:r>
          </a:p>
          <a:p>
            <a:r>
              <a:rPr lang="en-ZA" b="1" dirty="0"/>
              <a:t>int add(int a, int b) {</a:t>
            </a:r>
          </a:p>
          <a:p>
            <a:r>
              <a:rPr lang="en-ZA" b="1" dirty="0"/>
              <a:t>    return a + b;</a:t>
            </a:r>
          </a:p>
          <a:p>
            <a:r>
              <a:rPr lang="en-ZA" b="1" dirty="0"/>
              <a:t>}</a:t>
            </a:r>
          </a:p>
          <a:p>
            <a:pPr marL="0" indent="0">
              <a:buNone/>
            </a:pPr>
            <a:r>
              <a:rPr lang="en-ZA" b="1" dirty="0"/>
              <a:t>2. Object-Oriented Programming (OOP)</a:t>
            </a:r>
          </a:p>
          <a:p>
            <a:r>
              <a:rPr lang="en-ZA" dirty="0"/>
              <a:t>Data and behavior are bundled into objects. (Covered in your last question — classes, inheritance, polymorphism, encapsulation.)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Java, C++, Python, Ruby</a:t>
            </a:r>
          </a:p>
          <a:p>
            <a:pPr lvl="0"/>
            <a:r>
              <a:rPr lang="en-ZA" b="1" dirty="0"/>
              <a:t>Core idea:</a:t>
            </a:r>
            <a:r>
              <a:rPr lang="en-ZA" dirty="0"/>
              <a:t> "Objects that have state and behavior."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0232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BED9-2F26-0322-A3E8-00EB4FB1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5431-0B2E-D62E-A4F4-54FD4A96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F61B-89F8-9CD9-B661-3E296FFB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ZA" b="1" dirty="0"/>
              <a:t>3. Functional Programming</a:t>
            </a:r>
          </a:p>
          <a:p>
            <a:r>
              <a:rPr lang="en-ZA" dirty="0"/>
              <a:t>Computation is treated as evaluating mathematical functions. Avoids changing state or mutable data — emphasizes pure functions, immutability, and functions as first-class values.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Haskell, Lisp, Erlang; Python/JS support functional </a:t>
            </a:r>
            <a:r>
              <a:rPr lang="en-ZA" i="1" dirty="0"/>
              <a:t>style</a:t>
            </a:r>
            <a:endParaRPr lang="en-ZA" dirty="0"/>
          </a:p>
          <a:p>
            <a:pPr lvl="0"/>
            <a:r>
              <a:rPr lang="en-ZA" b="1" dirty="0"/>
              <a:t>Core idea:</a:t>
            </a:r>
            <a:r>
              <a:rPr lang="en-ZA" dirty="0"/>
              <a:t> "Same input always gives same output. No side effects."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# Functional style in Python</a:t>
            </a:r>
          </a:p>
          <a:p>
            <a:r>
              <a:rPr lang="en-ZA" dirty="0"/>
              <a:t>add = lambda a, b: a + b</a:t>
            </a:r>
          </a:p>
          <a:p>
            <a:r>
              <a:rPr lang="en-ZA" dirty="0"/>
              <a:t>squares = list(map(lambda x: x**2, [1, 2, 3]))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478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38B7-55D7-AE48-46AE-DFA77E14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F4CE-B3D5-7968-F80E-DBAB1361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3543-48D3-2D25-CA68-AE7FBE25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4. Logical Programming</a:t>
            </a:r>
          </a:p>
          <a:p>
            <a:r>
              <a:rPr lang="en-ZA" dirty="0"/>
              <a:t>Programs are written as a set of facts and rules. You state </a:t>
            </a:r>
            <a:r>
              <a:rPr lang="en-ZA" i="1" dirty="0"/>
              <a:t>what</a:t>
            </a:r>
            <a:r>
              <a:rPr lang="en-ZA" dirty="0"/>
              <a:t> is true, and the system figures out </a:t>
            </a:r>
            <a:r>
              <a:rPr lang="en-ZA" i="1" dirty="0"/>
              <a:t>how</a:t>
            </a:r>
            <a:r>
              <a:rPr lang="en-ZA" dirty="0"/>
              <a:t> to satisfy queries against those rules (uses inference/search, not explicit steps).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</a:t>
            </a:r>
            <a:r>
              <a:rPr lang="en-ZA" dirty="0" err="1"/>
              <a:t>Prolog</a:t>
            </a:r>
            <a:r>
              <a:rPr lang="en-ZA" dirty="0"/>
              <a:t>, </a:t>
            </a:r>
            <a:r>
              <a:rPr lang="en-ZA" dirty="0" err="1"/>
              <a:t>Datalog</a:t>
            </a:r>
            <a:endParaRPr lang="en-ZA" dirty="0"/>
          </a:p>
          <a:p>
            <a:pPr lvl="0"/>
            <a:r>
              <a:rPr lang="en-ZA" b="1" dirty="0"/>
              <a:t>Core idea:</a:t>
            </a:r>
            <a:r>
              <a:rPr lang="en-ZA" dirty="0"/>
              <a:t> "Here are the facts and rules — you figure out the answer."</a:t>
            </a:r>
          </a:p>
          <a:p>
            <a:r>
              <a:rPr lang="en-ZA" b="1" dirty="0" err="1">
                <a:solidFill>
                  <a:srgbClr val="FF0000"/>
                </a:solidFill>
              </a:rPr>
              <a:t>prolog</a:t>
            </a:r>
            <a:endParaRPr lang="en-ZA" b="1" dirty="0">
              <a:solidFill>
                <a:srgbClr val="FF0000"/>
              </a:solidFill>
            </a:endParaRPr>
          </a:p>
          <a:p>
            <a:r>
              <a:rPr lang="en-ZA" b="1" dirty="0"/>
              <a:t>parent(tom, bob).</a:t>
            </a:r>
          </a:p>
          <a:p>
            <a:r>
              <a:rPr lang="en-ZA" b="1" dirty="0"/>
              <a:t>parent(bob, </a:t>
            </a:r>
            <a:r>
              <a:rPr lang="en-ZA" b="1" dirty="0" err="1"/>
              <a:t>ann</a:t>
            </a:r>
            <a:r>
              <a:rPr lang="en-ZA" b="1" dirty="0"/>
              <a:t>).</a:t>
            </a:r>
          </a:p>
          <a:p>
            <a:r>
              <a:rPr lang="en-ZA" b="1" dirty="0"/>
              <a:t>grandparent(X, Y) :- parent(X, Z), parent(Z, Y).</a:t>
            </a:r>
          </a:p>
          <a:p>
            <a:r>
              <a:rPr lang="en-ZA" dirty="0"/>
              <a:t>% Query: grandparent(tom, </a:t>
            </a:r>
            <a:r>
              <a:rPr lang="en-ZA" dirty="0" err="1"/>
              <a:t>ann</a:t>
            </a:r>
            <a:r>
              <a:rPr lang="en-ZA" dirty="0"/>
              <a:t>). → true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663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F3C5-E37D-F6D7-D2F3-B33CE5AA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88A0-71D2-5286-11FE-73037F4F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paradigms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56B1-D275-D728-E826-D8D638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b="1" dirty="0"/>
              <a:t>5. Declarative Programming (logical &amp; functional)</a:t>
            </a:r>
          </a:p>
          <a:p>
            <a:r>
              <a:rPr lang="en-ZA" dirty="0"/>
              <a:t>A broader umbrella — you describe </a:t>
            </a:r>
            <a:r>
              <a:rPr lang="en-ZA" i="1" dirty="0"/>
              <a:t>what</a:t>
            </a:r>
            <a:r>
              <a:rPr lang="en-ZA" dirty="0"/>
              <a:t> you want, not </a:t>
            </a:r>
            <a:r>
              <a:rPr lang="en-ZA" i="1" dirty="0"/>
              <a:t>how</a:t>
            </a:r>
            <a:r>
              <a:rPr lang="en-ZA" dirty="0"/>
              <a:t> to get it. Functional and logical programming are both subsets of declarative programming. SQL is the classic example.</a:t>
            </a:r>
          </a:p>
          <a:p>
            <a:pPr lvl="0"/>
            <a:r>
              <a:rPr lang="en-ZA" b="1" dirty="0"/>
              <a:t>Examples:</a:t>
            </a:r>
            <a:r>
              <a:rPr lang="en-ZA" dirty="0"/>
              <a:t> SQL, HTML, regex, </a:t>
            </a:r>
            <a:r>
              <a:rPr lang="en-ZA" dirty="0" err="1"/>
              <a:t>Prolog</a:t>
            </a:r>
            <a:endParaRPr lang="en-ZA" dirty="0"/>
          </a:p>
          <a:p>
            <a:pPr lvl="0"/>
            <a:r>
              <a:rPr lang="en-ZA" b="1" dirty="0"/>
              <a:t>Core idea:</a:t>
            </a:r>
            <a:r>
              <a:rPr lang="en-ZA" dirty="0"/>
              <a:t> "Describe the result, not the steps."</a:t>
            </a:r>
          </a:p>
          <a:p>
            <a:r>
              <a:rPr lang="en-ZA" dirty="0" err="1"/>
              <a:t>sql</a:t>
            </a:r>
            <a:endParaRPr lang="en-ZA" dirty="0"/>
          </a:p>
          <a:p>
            <a:r>
              <a:rPr lang="en-ZA" dirty="0"/>
              <a:t>SELECT name FROM employees WHERE department = 'Finance’;</a:t>
            </a:r>
          </a:p>
          <a:p>
            <a:endParaRPr lang="en-ZA" dirty="0"/>
          </a:p>
          <a:p>
            <a:pPr marL="0" indent="0">
              <a:buNone/>
            </a:pPr>
            <a:r>
              <a:rPr lang="en-ZA" b="1" dirty="0"/>
              <a:t>6. Imperative Programming (procedural &amp; OOP)</a:t>
            </a:r>
          </a:p>
          <a:p>
            <a:r>
              <a:rPr lang="en-ZA" dirty="0"/>
              <a:t>The opposite umbrella to declarative — you explicitly tell the computer </a:t>
            </a:r>
            <a:r>
              <a:rPr lang="en-ZA" i="1" dirty="0"/>
              <a:t>how</a:t>
            </a:r>
            <a:r>
              <a:rPr lang="en-ZA" dirty="0"/>
              <a:t> to do something, step by step. Procedural and OOP are both subsets of imperative programming.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367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6078-3440-4357-1403-947E1257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5947E-E388-C668-83CB-58FC2332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ZA" b="1" dirty="0"/>
              <a:t>1. Classes and Objects</a:t>
            </a:r>
          </a:p>
          <a:p>
            <a:r>
              <a:rPr lang="en-ZA" dirty="0"/>
              <a:t>A </a:t>
            </a:r>
            <a:r>
              <a:rPr lang="en-ZA" b="1" dirty="0"/>
              <a:t>class</a:t>
            </a:r>
            <a:r>
              <a:rPr lang="en-ZA" dirty="0"/>
              <a:t> is a blueprint. An </a:t>
            </a:r>
            <a:r>
              <a:rPr lang="en-ZA" b="1" dirty="0"/>
              <a:t>object</a:t>
            </a:r>
            <a:r>
              <a:rPr lang="en-ZA" dirty="0"/>
              <a:t> is an instance created from that blueprint.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Car: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make, model):</a:t>
            </a:r>
          </a:p>
          <a:p>
            <a:r>
              <a:rPr lang="en-ZA" dirty="0"/>
              <a:t>        </a:t>
            </a:r>
            <a:r>
              <a:rPr lang="en-ZA" dirty="0" err="1"/>
              <a:t>self.make</a:t>
            </a:r>
            <a:r>
              <a:rPr lang="en-ZA" dirty="0"/>
              <a:t> = make</a:t>
            </a:r>
          </a:p>
          <a:p>
            <a:r>
              <a:rPr lang="en-ZA" dirty="0"/>
              <a:t>        </a:t>
            </a:r>
            <a:r>
              <a:rPr lang="en-ZA" dirty="0" err="1"/>
              <a:t>self.model</a:t>
            </a:r>
            <a:r>
              <a:rPr lang="en-ZA" dirty="0"/>
              <a:t> = model</a:t>
            </a:r>
          </a:p>
          <a:p>
            <a:endParaRPr lang="en-ZA" dirty="0"/>
          </a:p>
          <a:p>
            <a:r>
              <a:rPr lang="en-ZA" dirty="0" err="1"/>
              <a:t>my_car</a:t>
            </a:r>
            <a:r>
              <a:rPr lang="en-ZA" dirty="0"/>
              <a:t> = Car("Toyota", "Corolla")  # </a:t>
            </a:r>
            <a:r>
              <a:rPr lang="en-ZA" dirty="0" err="1"/>
              <a:t>my_car</a:t>
            </a:r>
            <a:r>
              <a:rPr lang="en-ZA" dirty="0"/>
              <a:t> is an object (instance) of Car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740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5BCB-29DF-F0F3-7E7A-97936A742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F91B-1630-5865-32E4-A720E1B7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95F3F-84AF-6E12-6886-F7AFAEB73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ZA" b="1" dirty="0"/>
              <a:t>2. Encapsulation</a:t>
            </a:r>
          </a:p>
          <a:p>
            <a:r>
              <a:rPr lang="en-ZA" dirty="0"/>
              <a:t>Bundling data (attributes) and behavior (methods) together, and controlling access to them.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</a:t>
            </a:r>
            <a:r>
              <a:rPr lang="en-ZA" dirty="0" err="1"/>
              <a:t>BankAccount</a:t>
            </a:r>
            <a:r>
              <a:rPr lang="en-ZA" dirty="0"/>
              <a:t>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balance):</a:t>
            </a:r>
          </a:p>
          <a:p>
            <a:r>
              <a:rPr lang="en-ZA" dirty="0"/>
              <a:t>        </a:t>
            </a:r>
            <a:r>
              <a:rPr lang="en-ZA" dirty="0" err="1"/>
              <a:t>self._balance</a:t>
            </a:r>
            <a:r>
              <a:rPr lang="en-ZA" dirty="0"/>
              <a:t> = balance  # underscore = "internal use" convention</a:t>
            </a:r>
          </a:p>
          <a:p>
            <a:endParaRPr lang="en-ZA" dirty="0"/>
          </a:p>
          <a:p>
            <a:r>
              <a:rPr lang="en-ZA" dirty="0"/>
              <a:t>    def deposit(self, amount):</a:t>
            </a:r>
          </a:p>
          <a:p>
            <a:r>
              <a:rPr lang="en-ZA" dirty="0"/>
              <a:t>        </a:t>
            </a:r>
            <a:r>
              <a:rPr lang="en-ZA" dirty="0" err="1"/>
              <a:t>self._balance</a:t>
            </a:r>
            <a:r>
              <a:rPr lang="en-ZA" dirty="0"/>
              <a:t> += amount</a:t>
            </a:r>
          </a:p>
          <a:p>
            <a:endParaRPr lang="en-ZA" dirty="0"/>
          </a:p>
          <a:p>
            <a:r>
              <a:rPr lang="en-ZA" dirty="0"/>
              <a:t>    def </a:t>
            </a:r>
            <a:r>
              <a:rPr lang="en-ZA" dirty="0" err="1"/>
              <a:t>get_balance</a:t>
            </a:r>
            <a:r>
              <a:rPr lang="en-ZA" dirty="0"/>
              <a:t>(self):</a:t>
            </a:r>
          </a:p>
          <a:p>
            <a:r>
              <a:rPr lang="en-ZA" dirty="0"/>
              <a:t>        return </a:t>
            </a:r>
            <a:r>
              <a:rPr lang="en-ZA" dirty="0" err="1"/>
              <a:t>self._balance</a:t>
            </a:r>
            <a:endParaRPr lang="en-ZA" dirty="0"/>
          </a:p>
          <a:p>
            <a:r>
              <a:rPr lang="en-ZA" dirty="0"/>
              <a:t>Python doesn't have true private variables — _balance is a convention, __balance triggers name-mangling, but nothing is truly locked. The point is controlling </a:t>
            </a:r>
            <a:r>
              <a:rPr lang="en-ZA" i="1" dirty="0"/>
              <a:t>how</a:t>
            </a:r>
            <a:r>
              <a:rPr lang="en-ZA" dirty="0"/>
              <a:t> data gets modified, not just hiding it.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8412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4C56-C32B-7E19-C60D-DA8C7EDD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884E-0BBD-08CE-5248-12D27A4F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3887-BB97-F676-23A7-301056DEF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ZA" b="1" dirty="0"/>
              <a:t>3. Inheritance</a:t>
            </a:r>
          </a:p>
          <a:p>
            <a:r>
              <a:rPr lang="en-ZA" dirty="0"/>
              <a:t>A class can inherit attributes/methods from another class, avoiding duplicate code.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Vehicle: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wheels):</a:t>
            </a:r>
          </a:p>
          <a:p>
            <a:r>
              <a:rPr lang="en-ZA" dirty="0"/>
              <a:t>        </a:t>
            </a:r>
            <a:r>
              <a:rPr lang="en-ZA" dirty="0" err="1"/>
              <a:t>self.wheels</a:t>
            </a:r>
            <a:r>
              <a:rPr lang="en-ZA" dirty="0"/>
              <a:t> = wheels</a:t>
            </a:r>
          </a:p>
          <a:p>
            <a:endParaRPr lang="en-ZA" dirty="0"/>
          </a:p>
          <a:p>
            <a:r>
              <a:rPr lang="en-ZA" dirty="0"/>
              <a:t>    def describe(self):</a:t>
            </a:r>
          </a:p>
          <a:p>
            <a:r>
              <a:rPr lang="en-ZA" dirty="0"/>
              <a:t>        return </a:t>
            </a:r>
            <a:r>
              <a:rPr lang="en-ZA" dirty="0" err="1"/>
              <a:t>f"This</a:t>
            </a:r>
            <a:r>
              <a:rPr lang="en-ZA" dirty="0"/>
              <a:t> vehicle has {</a:t>
            </a:r>
            <a:r>
              <a:rPr lang="en-ZA" dirty="0" err="1"/>
              <a:t>self.wheels</a:t>
            </a:r>
            <a:r>
              <a:rPr lang="en-ZA" dirty="0"/>
              <a:t>} wheels."</a:t>
            </a:r>
          </a:p>
          <a:p>
            <a:endParaRPr lang="en-ZA" dirty="0"/>
          </a:p>
          <a:p>
            <a:r>
              <a:rPr lang="en-ZA" dirty="0"/>
              <a:t>class Motorcycle(Vehicle):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__(self):</a:t>
            </a:r>
          </a:p>
          <a:p>
            <a:r>
              <a:rPr lang="en-ZA" dirty="0"/>
              <a:t>        super().__</a:t>
            </a:r>
            <a:r>
              <a:rPr lang="en-ZA" dirty="0" err="1"/>
              <a:t>init</a:t>
            </a:r>
            <a:r>
              <a:rPr lang="en-ZA" dirty="0"/>
              <a:t>__(wheels=2)  # calls parent's __</a:t>
            </a:r>
            <a:r>
              <a:rPr lang="en-ZA" dirty="0" err="1"/>
              <a:t>init</a:t>
            </a:r>
            <a:r>
              <a:rPr lang="en-ZA" dirty="0"/>
              <a:t>__</a:t>
            </a:r>
          </a:p>
          <a:p>
            <a:endParaRPr lang="en-ZA" dirty="0"/>
          </a:p>
          <a:p>
            <a:r>
              <a:rPr lang="en-ZA" dirty="0"/>
              <a:t>m = Motorcycle()</a:t>
            </a:r>
          </a:p>
          <a:p>
            <a:r>
              <a:rPr lang="en-ZA" dirty="0"/>
              <a:t>print(</a:t>
            </a:r>
            <a:r>
              <a:rPr lang="en-ZA" dirty="0" err="1"/>
              <a:t>m.describe</a:t>
            </a:r>
            <a:r>
              <a:rPr lang="en-ZA" dirty="0"/>
              <a:t>())  # "This vehicle has 2 wheels."</a:t>
            </a:r>
          </a:p>
          <a:p>
            <a:r>
              <a:rPr lang="en-ZA" dirty="0"/>
              <a:t>Motorcycle is the </a:t>
            </a:r>
            <a:r>
              <a:rPr lang="en-ZA" b="1" dirty="0"/>
              <a:t>child/subclass</a:t>
            </a:r>
            <a:r>
              <a:rPr lang="en-ZA" dirty="0"/>
              <a:t>, Vehicle is the </a:t>
            </a:r>
            <a:r>
              <a:rPr lang="en-ZA" b="1" dirty="0"/>
              <a:t>parent/superclass</a:t>
            </a:r>
            <a:r>
              <a:rPr lang="en-ZA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1527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7D85-C481-B2B1-E6AB-2482D198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213F-109C-DA9B-87CE-53D201F6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core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56AF-CB8C-87CB-632E-4D00DBF4B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b="1" dirty="0"/>
              <a:t>4. Polymorphism</a:t>
            </a:r>
          </a:p>
          <a:p>
            <a:r>
              <a:rPr lang="en-ZA" dirty="0"/>
              <a:t>Different classes can be used through the same interface, each responding differently to the same method call.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class Dog:</a:t>
            </a:r>
          </a:p>
          <a:p>
            <a:r>
              <a:rPr lang="en-ZA" dirty="0"/>
              <a:t>    def speak(self):</a:t>
            </a:r>
          </a:p>
          <a:p>
            <a:r>
              <a:rPr lang="en-ZA" dirty="0"/>
              <a:t>        return "Woof"</a:t>
            </a:r>
          </a:p>
          <a:p>
            <a:endParaRPr lang="en-ZA" dirty="0"/>
          </a:p>
          <a:p>
            <a:r>
              <a:rPr lang="en-ZA" dirty="0"/>
              <a:t>class Cat:</a:t>
            </a:r>
          </a:p>
          <a:p>
            <a:r>
              <a:rPr lang="en-ZA" dirty="0"/>
              <a:t>    def speak(self):</a:t>
            </a:r>
          </a:p>
          <a:p>
            <a:r>
              <a:rPr lang="en-ZA" dirty="0"/>
              <a:t>        return "Meow"</a:t>
            </a:r>
          </a:p>
          <a:p>
            <a:endParaRPr lang="en-ZA" dirty="0"/>
          </a:p>
          <a:p>
            <a:r>
              <a:rPr lang="en-ZA" dirty="0"/>
              <a:t>for animal in [Dog(), Cat()]:</a:t>
            </a:r>
          </a:p>
          <a:p>
            <a:r>
              <a:rPr lang="en-ZA" dirty="0"/>
              <a:t>    print(</a:t>
            </a:r>
            <a:r>
              <a:rPr lang="en-ZA" dirty="0" err="1"/>
              <a:t>animal.speak</a:t>
            </a:r>
            <a:r>
              <a:rPr lang="en-ZA" dirty="0"/>
              <a:t>())  # Woof, then Meow</a:t>
            </a:r>
          </a:p>
          <a:p>
            <a:r>
              <a:rPr lang="en-ZA" dirty="0"/>
              <a:t>Same method name (speak), different behavior depending on the object's class.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2028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5D49-DEFB-20F1-4F20-524873DF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B578-6A32-D313-42EC-1456B73C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 pillars of OOP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004EB-0026-6779-57A7-AF9E37C59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ZA" b="1" dirty="0"/>
              <a:t>Abstraction</a:t>
            </a:r>
          </a:p>
          <a:p>
            <a:r>
              <a:rPr lang="en-ZA" dirty="0"/>
              <a:t>Hiding complex implementation details behind a simple interface. In Python this is often done with abstract base classes: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from </a:t>
            </a:r>
            <a:r>
              <a:rPr lang="en-ZA" dirty="0" err="1"/>
              <a:t>abc</a:t>
            </a:r>
            <a:r>
              <a:rPr lang="en-ZA" dirty="0"/>
              <a:t> import ABC, </a:t>
            </a:r>
            <a:r>
              <a:rPr lang="en-ZA" dirty="0" err="1"/>
              <a:t>abstractmethod</a:t>
            </a:r>
            <a:endParaRPr lang="en-ZA" dirty="0"/>
          </a:p>
          <a:p>
            <a:endParaRPr lang="en-ZA" dirty="0"/>
          </a:p>
          <a:p>
            <a:r>
              <a:rPr lang="en-ZA" dirty="0"/>
              <a:t>class Shape(ABC):</a:t>
            </a:r>
          </a:p>
          <a:p>
            <a:r>
              <a:rPr lang="en-ZA" dirty="0"/>
              <a:t>    @abstractmethod</a:t>
            </a:r>
          </a:p>
          <a:p>
            <a:r>
              <a:rPr lang="en-ZA" dirty="0"/>
              <a:t>    def area(self):</a:t>
            </a:r>
          </a:p>
          <a:p>
            <a:r>
              <a:rPr lang="en-ZA" dirty="0"/>
              <a:t>        pass</a:t>
            </a:r>
          </a:p>
          <a:p>
            <a:endParaRPr lang="en-ZA" dirty="0"/>
          </a:p>
          <a:p>
            <a:r>
              <a:rPr lang="en-ZA" dirty="0"/>
              <a:t>class Square(Shape):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side):</a:t>
            </a:r>
          </a:p>
          <a:p>
            <a:r>
              <a:rPr lang="en-ZA" dirty="0"/>
              <a:t>        </a:t>
            </a:r>
            <a:r>
              <a:rPr lang="en-ZA" dirty="0" err="1"/>
              <a:t>self.side</a:t>
            </a:r>
            <a:r>
              <a:rPr lang="en-ZA" dirty="0"/>
              <a:t> = side</a:t>
            </a:r>
          </a:p>
          <a:p>
            <a:endParaRPr lang="en-ZA" dirty="0"/>
          </a:p>
          <a:p>
            <a:r>
              <a:rPr lang="en-ZA" dirty="0"/>
              <a:t>    def area(self):</a:t>
            </a:r>
          </a:p>
          <a:p>
            <a:r>
              <a:rPr lang="en-ZA" dirty="0"/>
              <a:t>        return </a:t>
            </a:r>
            <a:r>
              <a:rPr lang="en-ZA" dirty="0" err="1"/>
              <a:t>self.side</a:t>
            </a:r>
            <a:r>
              <a:rPr lang="en-ZA" dirty="0"/>
              <a:t> ** 2</a:t>
            </a:r>
          </a:p>
          <a:p>
            <a:r>
              <a:rPr lang="en-ZA" dirty="0"/>
              <a:t>Shape can't be instantiated directly — it forces any subclass to implement area().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0164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9EC2-D0BB-5761-23CC-82EA2B4B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4869-E7EE-0A99-5AED-F65BA60F8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Attributes and methods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5866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4DB2-A400-CF49-9830-735C50CD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hlinkClick r:id="rId2"/>
              </a:rPr>
              <a:t>Attributes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96D6-7640-E960-07F8-3B2326540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400" dirty="0"/>
              <a:t>An </a:t>
            </a:r>
            <a:r>
              <a:rPr lang="en-ZA" sz="2400" b="1" dirty="0"/>
              <a:t>attribute</a:t>
            </a:r>
            <a:r>
              <a:rPr lang="en-ZA" sz="2400" dirty="0"/>
              <a:t> in Python is a piece of data (or a function) that belongs to an object. You access it with dot notation: </a:t>
            </a:r>
            <a:r>
              <a:rPr lang="en-ZA" sz="2400" dirty="0" err="1"/>
              <a:t>object.attribute</a:t>
            </a:r>
            <a:r>
              <a:rPr lang="en-ZA" sz="2400" dirty="0"/>
              <a:t>.</a:t>
            </a:r>
          </a:p>
          <a:p>
            <a:endParaRPr lang="en-ZA" sz="2400" dirty="0"/>
          </a:p>
          <a:p>
            <a:endParaRPr lang="en-ZA" sz="2400" dirty="0"/>
          </a:p>
          <a:p>
            <a:endParaRPr lang="en-ZA" sz="2400" dirty="0"/>
          </a:p>
          <a:p>
            <a:endParaRPr lang="en-ZA" sz="2400" dirty="0"/>
          </a:p>
          <a:p>
            <a:endParaRPr lang="en-ZA" sz="2400" dirty="0"/>
          </a:p>
          <a:p>
            <a:endParaRPr lang="en-ZA" sz="2400" dirty="0"/>
          </a:p>
          <a:p>
            <a:r>
              <a:rPr lang="en-ZA" sz="2400" dirty="0"/>
              <a:t>Here, owner and balance are attributes of account. They were created in __</a:t>
            </a:r>
            <a:r>
              <a:rPr lang="en-ZA" sz="2400" dirty="0" err="1"/>
              <a:t>init</a:t>
            </a:r>
            <a:r>
              <a:rPr lang="en-ZA" sz="2400" dirty="0"/>
              <a:t>__ by assigning to </a:t>
            </a:r>
            <a:r>
              <a:rPr lang="en-ZA" sz="2400" dirty="0" err="1"/>
              <a:t>self.owner</a:t>
            </a:r>
            <a:r>
              <a:rPr lang="en-ZA" sz="2400" dirty="0"/>
              <a:t> and </a:t>
            </a:r>
            <a:r>
              <a:rPr lang="en-ZA" sz="2400" dirty="0" err="1"/>
              <a:t>self.balance</a:t>
            </a:r>
            <a:r>
              <a:rPr lang="en-ZA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7BC96-F845-B641-7A60-727C31874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624838"/>
            <a:ext cx="4388893" cy="26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5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2364-6F83-2CD8-4A3B-61415308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23C8-DBEE-82D6-48B8-E9F61662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C9C0C-1D4C-DB92-4F17-04BC71906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34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This is limiting because we		This option is better because we can</a:t>
            </a:r>
          </a:p>
          <a:p>
            <a:pPr marL="0" indent="0">
              <a:buNone/>
            </a:pPr>
            <a:r>
              <a:rPr lang="en-ZA" sz="2400" b="1" dirty="0"/>
              <a:t>are stuck at apple and red			change the name and colour as we 						need</a:t>
            </a:r>
            <a:endParaRPr lang="en-Z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E8E95-7E07-1FF1-193D-2BA1ECEC3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9208"/>
            <a:ext cx="3215185" cy="2918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C722AE-FD49-7A1E-1460-AE326CCF9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933" y="3108367"/>
            <a:ext cx="429637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77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336C-8911-E4B0-F8A5-4A82B193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Class and instance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31BD1-5865-C4DE-9B73-5DD9C88B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000" b="1" dirty="0"/>
              <a:t>Instance attributes</a:t>
            </a:r>
            <a:endParaRPr lang="en-ZA" sz="2000" dirty="0"/>
          </a:p>
          <a:p>
            <a:r>
              <a:rPr lang="en-ZA" sz="2000" dirty="0"/>
              <a:t>These belong to one specific object. Each object gets its own copy, so changing one doesn't affect the others.</a:t>
            </a:r>
          </a:p>
          <a:p>
            <a:r>
              <a:rPr lang="en-ZA" sz="2000" b="1" dirty="0"/>
              <a:t>Class attributes</a:t>
            </a:r>
            <a:endParaRPr lang="en-ZA" sz="2000" dirty="0"/>
          </a:p>
          <a:p>
            <a:r>
              <a:rPr lang="en-ZA" sz="2000" dirty="0"/>
              <a:t>These are defined directly in the class body, outside any method. They're shared by every instance.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8BAAF-40BB-89E6-9DFE-1AFE4663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43102"/>
            <a:ext cx="3776550" cy="254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07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66BD-C76D-C8B4-F324-FBE80B11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Reading, changing, and adding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9876-723A-2AD9-81A7-8E34DDFF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080B4-3D67-9B89-7F82-FAB1AC9EA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4893"/>
            <a:ext cx="501084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41B2-E5B6-1A1D-15E6-9566DB1D9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9AB7-3387-A7BF-B3F8-11BBA1A5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500" dirty="0"/>
              <a:t>A </a:t>
            </a:r>
            <a:r>
              <a:rPr lang="en-ZA" sz="1500" b="1" dirty="0"/>
              <a:t>method</a:t>
            </a:r>
            <a:r>
              <a:rPr lang="en-ZA" sz="1500" dirty="0"/>
              <a:t> is a function that belongs to a class. You define it inside the class body, and you call it on an object with dot notation: </a:t>
            </a:r>
            <a:r>
              <a:rPr lang="en-ZA" sz="1500" dirty="0" err="1"/>
              <a:t>object.method</a:t>
            </a:r>
            <a:r>
              <a:rPr lang="en-ZA" sz="1500" dirty="0"/>
              <a:t>().</a:t>
            </a:r>
          </a:p>
          <a:p>
            <a:endParaRPr lang="en-ZA" sz="1500" dirty="0"/>
          </a:p>
          <a:p>
            <a:endParaRPr lang="en-ZA" sz="1500" dirty="0"/>
          </a:p>
          <a:p>
            <a:endParaRPr lang="en-ZA" sz="1500" dirty="0"/>
          </a:p>
          <a:p>
            <a:endParaRPr lang="en-ZA" sz="1500" dirty="0"/>
          </a:p>
          <a:p>
            <a:endParaRPr lang="en-ZA" sz="1500" dirty="0"/>
          </a:p>
          <a:p>
            <a:endParaRPr lang="en-ZA" sz="1500" dirty="0"/>
          </a:p>
          <a:p>
            <a:endParaRPr lang="en-ZA" sz="1500" dirty="0"/>
          </a:p>
          <a:p>
            <a:r>
              <a:rPr lang="en-ZA" sz="1500" dirty="0"/>
              <a:t>Here, deposit is a method. It uses </a:t>
            </a:r>
            <a:r>
              <a:rPr lang="en-ZA" sz="1500" dirty="0" err="1"/>
              <a:t>self.balance</a:t>
            </a:r>
            <a:r>
              <a:rPr lang="en-ZA" sz="1500" dirty="0"/>
              <a:t> to read and change the account's own data.</a:t>
            </a:r>
          </a:p>
          <a:p>
            <a:r>
              <a:rPr lang="en-ZA" sz="1500" b="1" dirty="0"/>
              <a:t>What self means in methods</a:t>
            </a:r>
            <a:endParaRPr lang="en-ZA" sz="1500" dirty="0"/>
          </a:p>
          <a:p>
            <a:r>
              <a:rPr lang="en-ZA" sz="1500" dirty="0"/>
              <a:t>Just like in __</a:t>
            </a:r>
            <a:r>
              <a:rPr lang="en-ZA" sz="1500" dirty="0" err="1"/>
              <a:t>init</a:t>
            </a:r>
            <a:r>
              <a:rPr lang="en-ZA" sz="1500" dirty="0"/>
              <a:t>__, self is the object the method is being called on. Python passes it automatically as the first argument. When you write </a:t>
            </a:r>
            <a:r>
              <a:rPr lang="en-ZA" sz="1500" dirty="0" err="1"/>
              <a:t>account.deposit</a:t>
            </a:r>
            <a:r>
              <a:rPr lang="en-ZA" sz="1500" dirty="0"/>
              <a:t>(50), Python effectively runs </a:t>
            </a:r>
            <a:r>
              <a:rPr lang="en-ZA" sz="1500" dirty="0" err="1"/>
              <a:t>BankAccount.deposit</a:t>
            </a:r>
            <a:r>
              <a:rPr lang="en-ZA" sz="1500" dirty="0"/>
              <a:t>(account, 50). That's why the definition has two parameters (self, amount) but you only pass one.</a:t>
            </a:r>
          </a:p>
          <a:p>
            <a:endParaRPr lang="en-Z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1A2AF-6028-0EF1-5A13-AE072826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85964"/>
            <a:ext cx="3051412" cy="225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22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FA4D-B960-BBB4-983F-D5E0D9F1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Methods that return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A6608A-4D42-A56F-5758-B0E684373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086398" cy="376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68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5ADB-18F2-1076-1720-B8A636CB1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Methods that call other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77BD-7A5D-6C2A-9A8E-204C1DE6F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400" dirty="0"/>
              <a:t>Use </a:t>
            </a:r>
            <a:r>
              <a:rPr lang="en-ZA" dirty="0"/>
              <a:t>self</a:t>
            </a:r>
            <a:r>
              <a:rPr lang="en-ZA" sz="2400" dirty="0"/>
              <a:t> to call one method from another inside the same class: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A2C95-2B3E-8A8B-AF23-74C1F0D9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23971"/>
            <a:ext cx="5616543" cy="337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0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4D44-D8F6-C00C-307C-F9F9E2BB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Three kinds of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0590-3940-BA6A-2A8C-F33DFA051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000" i="1" dirty="0"/>
              <a:t>Instance methods</a:t>
            </a:r>
            <a:r>
              <a:rPr lang="en-ZA" sz="2000" dirty="0"/>
              <a:t> are the normal kind shown above. They take self and work with one specific object.</a:t>
            </a:r>
          </a:p>
          <a:p>
            <a:r>
              <a:rPr lang="en-ZA" sz="2000" i="1" dirty="0"/>
              <a:t>Class methods</a:t>
            </a:r>
            <a:r>
              <a:rPr lang="en-ZA" sz="2000" dirty="0"/>
              <a:t> take the class itself (conventionally </a:t>
            </a:r>
            <a:r>
              <a:rPr lang="en-ZA" sz="2000" dirty="0" err="1"/>
              <a:t>cls</a:t>
            </a:r>
            <a:r>
              <a:rPr lang="en-ZA" sz="2000" dirty="0"/>
              <a:t>) instead of an instance. They're marked with @classmethod and are often used as alternative ways to create objects:</a:t>
            </a:r>
          </a:p>
          <a:p>
            <a:endParaRPr lang="en-Z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56FA6-D13B-5732-5647-C3F5E0D1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12802"/>
            <a:ext cx="4811973" cy="294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28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62FC-182F-0AE3-F22D-808EFB00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Three kinds of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6AC3-2E92-C2DC-0D2A-30BF9321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400" i="1" dirty="0"/>
              <a:t>Static methods</a:t>
            </a:r>
            <a:r>
              <a:rPr lang="en-ZA" sz="2400" dirty="0"/>
              <a:t> take neither self nor </a:t>
            </a:r>
            <a:r>
              <a:rPr lang="en-ZA" sz="2400" dirty="0" err="1"/>
              <a:t>cls</a:t>
            </a:r>
            <a:r>
              <a:rPr lang="en-ZA" sz="2400" dirty="0"/>
              <a:t>. They're marked with @staticmethod and are just regular functions that live in the class because they're related to it: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18CE8-80E0-20AE-5C60-BFF27902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93427"/>
            <a:ext cx="6640773" cy="294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2080</TotalTime>
  <Words>1339</Words>
  <Application>Microsoft Office PowerPoint</Application>
  <PresentationFormat>Widescreen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Introduction to Object-Oriented Programming (OOP)</vt:lpstr>
      <vt:lpstr>Programming paradigms</vt:lpstr>
      <vt:lpstr>Programming paradigms</vt:lpstr>
      <vt:lpstr>Programming paradigms</vt:lpstr>
      <vt:lpstr>Programming paradigms</vt:lpstr>
      <vt:lpstr>Four core pillars of OOP</vt:lpstr>
      <vt:lpstr>Four core pillars of OOP</vt:lpstr>
      <vt:lpstr>Four core pillars of OOP</vt:lpstr>
      <vt:lpstr>Four core pillars of OOP</vt:lpstr>
      <vt:lpstr>Four pillars of OOP</vt:lpstr>
      <vt:lpstr>Attributes and methods</vt:lpstr>
      <vt:lpstr>Attributes </vt:lpstr>
      <vt:lpstr>Attributes </vt:lpstr>
      <vt:lpstr>Class and instance attributes</vt:lpstr>
      <vt:lpstr>Reading, changing, and adding attributes</vt:lpstr>
      <vt:lpstr>Methods </vt:lpstr>
      <vt:lpstr>Methods that return values</vt:lpstr>
      <vt:lpstr>Methods that call other methods</vt:lpstr>
      <vt:lpstr>Three kinds of methods</vt:lpstr>
      <vt:lpstr>Three kinds of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Lindelwa Twala</dc:creator>
  <cp:lastModifiedBy>Lindelwa Twala</cp:lastModifiedBy>
  <cp:revision>1</cp:revision>
  <dcterms:created xsi:type="dcterms:W3CDTF">2026-09-23T17:24:39Z</dcterms:created>
  <dcterms:modified xsi:type="dcterms:W3CDTF">2026-10-07T10:13:20Z</dcterms:modified>
</cp:coreProperties>
</file>