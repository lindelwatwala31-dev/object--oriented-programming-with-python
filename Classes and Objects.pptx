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82" r:id="rId2"/>
    <p:sldId id="284" r:id="rId3"/>
    <p:sldId id="289" r:id="rId4"/>
    <p:sldId id="290" r:id="rId5"/>
    <p:sldId id="291" r:id="rId6"/>
    <p:sldId id="283" r:id="rId7"/>
    <p:sldId id="287" r:id="rId8"/>
    <p:sldId id="286" r:id="rId9"/>
    <p:sldId id="288" r:id="rId10"/>
    <p:sldId id="292" r:id="rId11"/>
    <p:sldId id="257" r:id="rId12"/>
    <p:sldId id="276" r:id="rId13"/>
    <p:sldId id="277" r:id="rId14"/>
    <p:sldId id="293" r:id="rId15"/>
    <p:sldId id="294" r:id="rId16"/>
    <p:sldId id="278" r:id="rId17"/>
    <p:sldId id="295" r:id="rId18"/>
    <p:sldId id="296" r:id="rId19"/>
    <p:sldId id="258" r:id="rId20"/>
    <p:sldId id="279" r:id="rId21"/>
    <p:sldId id="280" r:id="rId22"/>
    <p:sldId id="281" r:id="rId23"/>
    <p:sldId id="271" r:id="rId24"/>
    <p:sldId id="272" r:id="rId25"/>
    <p:sldId id="273" r:id="rId26"/>
    <p:sldId id="274" r:id="rId27"/>
    <p:sldId id="275" r:id="rId28"/>
    <p:sldId id="260" r:id="rId29"/>
    <p:sldId id="266" r:id="rId30"/>
    <p:sldId id="267" r:id="rId31"/>
    <p:sldId id="268" r:id="rId32"/>
    <p:sldId id="269" r:id="rId33"/>
    <p:sldId id="270" r:id="rId34"/>
    <p:sldId id="259" r:id="rId35"/>
    <p:sldId id="261" r:id="rId36"/>
    <p:sldId id="262" r:id="rId37"/>
    <p:sldId id="263" r:id="rId38"/>
    <p:sldId id="264" r:id="rId39"/>
    <p:sldId id="265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25111D5-DAD7-4555-AE87-946BCBF21B20}">
          <p14:sldIdLst>
            <p14:sldId id="282"/>
            <p14:sldId id="284"/>
            <p14:sldId id="289"/>
            <p14:sldId id="290"/>
            <p14:sldId id="291"/>
            <p14:sldId id="283"/>
            <p14:sldId id="287"/>
            <p14:sldId id="286"/>
            <p14:sldId id="288"/>
            <p14:sldId id="292"/>
          </p14:sldIdLst>
        </p14:section>
        <p14:section name="Classes and objects" id="{1A5FCDB6-4649-4DB8-A161-C24B303CB5A2}">
          <p14:sldIdLst>
            <p14:sldId id="257"/>
            <p14:sldId id="276"/>
            <p14:sldId id="277"/>
            <p14:sldId id="293"/>
            <p14:sldId id="294"/>
            <p14:sldId id="278"/>
            <p14:sldId id="295"/>
            <p14:sldId id="296"/>
          </p14:sldIdLst>
        </p14:section>
        <p14:section name="Init () method" id="{A0429C63-59D1-422F-9C98-9FB99FD63BE8}">
          <p14:sldIdLst>
            <p14:sldId id="258"/>
            <p14:sldId id="279"/>
            <p14:sldId id="280"/>
            <p14:sldId id="281"/>
            <p14:sldId id="271"/>
            <p14:sldId id="272"/>
            <p14:sldId id="273"/>
            <p14:sldId id="274"/>
            <p14:sldId id="275"/>
            <p14:sldId id="260"/>
            <p14:sldId id="266"/>
            <p14:sldId id="267"/>
            <p14:sldId id="268"/>
            <p14:sldId id="269"/>
            <p14:sldId id="270"/>
            <p14:sldId id="259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632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delwa Twala" userId="282265af-a309-4751-bc79-2af5426b4682" providerId="ADAL" clId="{50CF68B9-3B9F-449F-B1AC-8B2C1508A6EE}"/>
    <pc:docChg chg="undo custSel addSld delSld modSld sldOrd addSection modSection">
      <pc:chgData name="Lindelwa Twala" userId="282265af-a309-4751-bc79-2af5426b4682" providerId="ADAL" clId="{50CF68B9-3B9F-449F-B1AC-8B2C1508A6EE}" dt="2026-10-01T15:10:09.504" v="189" actId="17846"/>
      <pc:docMkLst>
        <pc:docMk/>
      </pc:docMkLst>
      <pc:sldChg chg="ord">
        <pc:chgData name="Lindelwa Twala" userId="282265af-a309-4751-bc79-2af5426b4682" providerId="ADAL" clId="{50CF68B9-3B9F-449F-B1AC-8B2C1508A6EE}" dt="2026-10-01T15:09:46.284" v="187"/>
        <pc:sldMkLst>
          <pc:docMk/>
          <pc:sldMk cId="2874371583" sldId="258"/>
        </pc:sldMkLst>
      </pc:sldChg>
      <pc:sldChg chg="addSp delSp modSp mod">
        <pc:chgData name="Lindelwa Twala" userId="282265af-a309-4751-bc79-2af5426b4682" providerId="ADAL" clId="{50CF68B9-3B9F-449F-B1AC-8B2C1508A6EE}" dt="2026-09-25T09:34:29.370" v="75" actId="1076"/>
        <pc:sldMkLst>
          <pc:docMk/>
          <pc:sldMk cId="3586166851" sldId="276"/>
        </pc:sldMkLst>
        <pc:spChg chg="mod">
          <ac:chgData name="Lindelwa Twala" userId="282265af-a309-4751-bc79-2af5426b4682" providerId="ADAL" clId="{50CF68B9-3B9F-449F-B1AC-8B2C1508A6EE}" dt="2026-09-25T08:53:01.258" v="18" actId="5793"/>
          <ac:spMkLst>
            <pc:docMk/>
            <pc:sldMk cId="3586166851" sldId="276"/>
            <ac:spMk id="2" creationId="{8F0F64B5-AA9B-B0BB-EB87-F2851FEC7F8E}"/>
          </ac:spMkLst>
        </pc:spChg>
        <pc:spChg chg="mod">
          <ac:chgData name="Lindelwa Twala" userId="282265af-a309-4751-bc79-2af5426b4682" providerId="ADAL" clId="{50CF68B9-3B9F-449F-B1AC-8B2C1508A6EE}" dt="2026-09-25T08:55:28.407" v="46" actId="5793"/>
          <ac:spMkLst>
            <pc:docMk/>
            <pc:sldMk cId="3586166851" sldId="276"/>
            <ac:spMk id="3" creationId="{4C43FB56-378E-6F22-7294-40EED131911B}"/>
          </ac:spMkLst>
        </pc:spChg>
        <pc:picChg chg="add mod">
          <ac:chgData name="Lindelwa Twala" userId="282265af-a309-4751-bc79-2af5426b4682" providerId="ADAL" clId="{50CF68B9-3B9F-449F-B1AC-8B2C1508A6EE}" dt="2026-09-25T09:34:29.370" v="75" actId="1076"/>
          <ac:picMkLst>
            <pc:docMk/>
            <pc:sldMk cId="3586166851" sldId="276"/>
            <ac:picMk id="7" creationId="{ADAC9E07-63C6-E776-40B3-717F146030A5}"/>
          </ac:picMkLst>
        </pc:picChg>
      </pc:sldChg>
      <pc:sldChg chg="modSp mod">
        <pc:chgData name="Lindelwa Twala" userId="282265af-a309-4751-bc79-2af5426b4682" providerId="ADAL" clId="{50CF68B9-3B9F-449F-B1AC-8B2C1508A6EE}" dt="2026-09-25T09:55:00.298" v="183" actId="20577"/>
        <pc:sldMkLst>
          <pc:docMk/>
          <pc:sldMk cId="4034874751" sldId="277"/>
        </pc:sldMkLst>
        <pc:spChg chg="mod">
          <ac:chgData name="Lindelwa Twala" userId="282265af-a309-4751-bc79-2af5426b4682" providerId="ADAL" clId="{50CF68B9-3B9F-449F-B1AC-8B2C1508A6EE}" dt="2026-09-25T08:53:21.965" v="33" actId="20577"/>
          <ac:spMkLst>
            <pc:docMk/>
            <pc:sldMk cId="4034874751" sldId="277"/>
            <ac:spMk id="2" creationId="{F0231BCF-DA82-36EA-E52B-704FBEF2386C}"/>
          </ac:spMkLst>
        </pc:spChg>
        <pc:spChg chg="mod">
          <ac:chgData name="Lindelwa Twala" userId="282265af-a309-4751-bc79-2af5426b4682" providerId="ADAL" clId="{50CF68B9-3B9F-449F-B1AC-8B2C1508A6EE}" dt="2026-09-25T09:55:00.298" v="183" actId="20577"/>
          <ac:spMkLst>
            <pc:docMk/>
            <pc:sldMk cId="4034874751" sldId="277"/>
            <ac:spMk id="3" creationId="{41C51875-B880-A986-D199-F810AE6E72F6}"/>
          </ac:spMkLst>
        </pc:spChg>
      </pc:sldChg>
      <pc:sldChg chg="modSp mod">
        <pc:chgData name="Lindelwa Twala" userId="282265af-a309-4751-bc79-2af5426b4682" providerId="ADAL" clId="{50CF68B9-3B9F-449F-B1AC-8B2C1508A6EE}" dt="2026-09-25T09:44:34.117" v="87" actId="5793"/>
        <pc:sldMkLst>
          <pc:docMk/>
          <pc:sldMk cId="3831876367" sldId="278"/>
        </pc:sldMkLst>
        <pc:spChg chg="mod">
          <ac:chgData name="Lindelwa Twala" userId="282265af-a309-4751-bc79-2af5426b4682" providerId="ADAL" clId="{50CF68B9-3B9F-449F-B1AC-8B2C1508A6EE}" dt="2026-09-25T09:44:18.053" v="84" actId="5793"/>
          <ac:spMkLst>
            <pc:docMk/>
            <pc:sldMk cId="3831876367" sldId="278"/>
            <ac:spMk id="2" creationId="{56727FD4-FEF1-45C2-9224-D6F888BA4538}"/>
          </ac:spMkLst>
        </pc:spChg>
        <pc:spChg chg="mod">
          <ac:chgData name="Lindelwa Twala" userId="282265af-a309-4751-bc79-2af5426b4682" providerId="ADAL" clId="{50CF68B9-3B9F-449F-B1AC-8B2C1508A6EE}" dt="2026-09-25T09:44:34.117" v="87" actId="5793"/>
          <ac:spMkLst>
            <pc:docMk/>
            <pc:sldMk cId="3831876367" sldId="278"/>
            <ac:spMk id="3" creationId="{C5E87D63-AAD9-B916-8726-04C142764945}"/>
          </ac:spMkLst>
        </pc:spChg>
      </pc:sldChg>
      <pc:sldChg chg="modSp ord">
        <pc:chgData name="Lindelwa Twala" userId="282265af-a309-4751-bc79-2af5426b4682" providerId="ADAL" clId="{50CF68B9-3B9F-449F-B1AC-8B2C1508A6EE}" dt="2026-09-23T17:45:32.762" v="9"/>
        <pc:sldMkLst>
          <pc:docMk/>
          <pc:sldMk cId="2077403843" sldId="283"/>
        </pc:sldMkLst>
        <pc:spChg chg="mod">
          <ac:chgData name="Lindelwa Twala" userId="282265af-a309-4751-bc79-2af5426b4682" providerId="ADAL" clId="{50CF68B9-3B9F-449F-B1AC-8B2C1508A6EE}" dt="2026-09-23T17:31:58.042" v="0"/>
          <ac:spMkLst>
            <pc:docMk/>
            <pc:sldMk cId="2077403843" sldId="283"/>
            <ac:spMk id="3" creationId="{82B5947E-E388-C668-83CB-58FC2332480A}"/>
          </ac:spMkLst>
        </pc:spChg>
      </pc:sldChg>
      <pc:sldChg chg="modSp ord">
        <pc:chgData name="Lindelwa Twala" userId="282265af-a309-4751-bc79-2af5426b4682" providerId="ADAL" clId="{50CF68B9-3B9F-449F-B1AC-8B2C1508A6EE}" dt="2026-09-23T17:42:20.657" v="4"/>
        <pc:sldMkLst>
          <pc:docMk/>
          <pc:sldMk cId="1902324909" sldId="284"/>
        </pc:sldMkLst>
        <pc:spChg chg="mod">
          <ac:chgData name="Lindelwa Twala" userId="282265af-a309-4751-bc79-2af5426b4682" providerId="ADAL" clId="{50CF68B9-3B9F-449F-B1AC-8B2C1508A6EE}" dt="2026-09-23T17:42:20.657" v="4"/>
          <ac:spMkLst>
            <pc:docMk/>
            <pc:sldMk cId="1902324909" sldId="284"/>
            <ac:spMk id="3" creationId="{E4A15313-A422-5C43-B040-D62AF1D25E2C}"/>
          </ac:spMkLst>
        </pc:spChg>
      </pc:sldChg>
      <pc:sldChg chg="del">
        <pc:chgData name="Lindelwa Twala" userId="282265af-a309-4751-bc79-2af5426b4682" providerId="ADAL" clId="{50CF68B9-3B9F-449F-B1AC-8B2C1508A6EE}" dt="2026-10-01T15:09:04.995" v="184" actId="47"/>
        <pc:sldMkLst>
          <pc:docMk/>
          <pc:sldMk cId="1592654032" sldId="285"/>
        </pc:sldMkLst>
      </pc:sldChg>
      <pc:sldChg chg="modSp">
        <pc:chgData name="Lindelwa Twala" userId="282265af-a309-4751-bc79-2af5426b4682" providerId="ADAL" clId="{50CF68B9-3B9F-449F-B1AC-8B2C1508A6EE}" dt="2026-09-23T17:39:49.216" v="1"/>
        <pc:sldMkLst>
          <pc:docMk/>
          <pc:sldMk cId="515275870" sldId="286"/>
        </pc:sldMkLst>
        <pc:spChg chg="mod">
          <ac:chgData name="Lindelwa Twala" userId="282265af-a309-4751-bc79-2af5426b4682" providerId="ADAL" clId="{50CF68B9-3B9F-449F-B1AC-8B2C1508A6EE}" dt="2026-09-23T17:39:49.216" v="1"/>
          <ac:spMkLst>
            <pc:docMk/>
            <pc:sldMk cId="515275870" sldId="286"/>
            <ac:spMk id="3" creationId="{33D83887-BB97-F676-23A7-301056DEFAFD}"/>
          </ac:spMkLst>
        </pc:spChg>
      </pc:sldChg>
      <pc:sldChg chg="modSp">
        <pc:chgData name="Lindelwa Twala" userId="282265af-a309-4751-bc79-2af5426b4682" providerId="ADAL" clId="{50CF68B9-3B9F-449F-B1AC-8B2C1508A6EE}" dt="2026-09-23T17:40:09.504" v="2"/>
        <pc:sldMkLst>
          <pc:docMk/>
          <pc:sldMk cId="1620285168" sldId="288"/>
        </pc:sldMkLst>
        <pc:spChg chg="mod">
          <ac:chgData name="Lindelwa Twala" userId="282265af-a309-4751-bc79-2af5426b4682" providerId="ADAL" clId="{50CF68B9-3B9F-449F-B1AC-8B2C1508A6EE}" dt="2026-09-23T17:40:09.504" v="2"/>
          <ac:spMkLst>
            <pc:docMk/>
            <pc:sldMk cId="1620285168" sldId="288"/>
            <ac:spMk id="3" creationId="{854D56AF-CB8C-87CB-632E-4D00DBF4B9AB}"/>
          </ac:spMkLst>
        </pc:spChg>
      </pc:sldChg>
      <pc:sldChg chg="modSp">
        <pc:chgData name="Lindelwa Twala" userId="282265af-a309-4751-bc79-2af5426b4682" providerId="ADAL" clId="{50CF68B9-3B9F-449F-B1AC-8B2C1508A6EE}" dt="2026-09-23T17:43:05.222" v="5"/>
        <pc:sldMkLst>
          <pc:docMk/>
          <pc:sldMk cId="2594782126" sldId="289"/>
        </pc:sldMkLst>
        <pc:spChg chg="mod">
          <ac:chgData name="Lindelwa Twala" userId="282265af-a309-4751-bc79-2af5426b4682" providerId="ADAL" clId="{50CF68B9-3B9F-449F-B1AC-8B2C1508A6EE}" dt="2026-09-23T17:43:05.222" v="5"/>
          <ac:spMkLst>
            <pc:docMk/>
            <pc:sldMk cId="2594782126" sldId="289"/>
            <ac:spMk id="3" creationId="{F453F61B-89F8-9CD9-B661-3E296FFB7D9E}"/>
          </ac:spMkLst>
        </pc:spChg>
      </pc:sldChg>
      <pc:sldChg chg="modSp">
        <pc:chgData name="Lindelwa Twala" userId="282265af-a309-4751-bc79-2af5426b4682" providerId="ADAL" clId="{50CF68B9-3B9F-449F-B1AC-8B2C1508A6EE}" dt="2026-09-23T17:43:21.650" v="6"/>
        <pc:sldMkLst>
          <pc:docMk/>
          <pc:sldMk cId="396630004" sldId="290"/>
        </pc:sldMkLst>
        <pc:spChg chg="mod">
          <ac:chgData name="Lindelwa Twala" userId="282265af-a309-4751-bc79-2af5426b4682" providerId="ADAL" clId="{50CF68B9-3B9F-449F-B1AC-8B2C1508A6EE}" dt="2026-09-23T17:43:21.650" v="6"/>
          <ac:spMkLst>
            <pc:docMk/>
            <pc:sldMk cId="396630004" sldId="290"/>
            <ac:spMk id="3" creationId="{EE043543-48D3-2D25-CA68-AE7FBE256ADC}"/>
          </ac:spMkLst>
        </pc:spChg>
      </pc:sldChg>
      <pc:sldChg chg="modSp">
        <pc:chgData name="Lindelwa Twala" userId="282265af-a309-4751-bc79-2af5426b4682" providerId="ADAL" clId="{50CF68B9-3B9F-449F-B1AC-8B2C1508A6EE}" dt="2026-09-23T17:44:20.545" v="8"/>
        <pc:sldMkLst>
          <pc:docMk/>
          <pc:sldMk cId="433677081" sldId="291"/>
        </pc:sldMkLst>
        <pc:spChg chg="mod">
          <ac:chgData name="Lindelwa Twala" userId="282265af-a309-4751-bc79-2af5426b4682" providerId="ADAL" clId="{50CF68B9-3B9F-449F-B1AC-8B2C1508A6EE}" dt="2026-09-23T17:44:20.545" v="8"/>
          <ac:spMkLst>
            <pc:docMk/>
            <pc:sldMk cId="433677081" sldId="291"/>
            <ac:spMk id="3" creationId="{1B3E56B1-D275-D728-E826-D8D638CA7E00}"/>
          </ac:spMkLst>
        </pc:spChg>
      </pc:sldChg>
      <pc:sldChg chg="modSp ord">
        <pc:chgData name="Lindelwa Twala" userId="282265af-a309-4751-bc79-2af5426b4682" providerId="ADAL" clId="{50CF68B9-3B9F-449F-B1AC-8B2C1508A6EE}" dt="2026-09-23T17:51:00.918" v="11"/>
        <pc:sldMkLst>
          <pc:docMk/>
          <pc:sldMk cId="701643949" sldId="292"/>
        </pc:sldMkLst>
        <pc:spChg chg="mod">
          <ac:chgData name="Lindelwa Twala" userId="282265af-a309-4751-bc79-2af5426b4682" providerId="ADAL" clId="{50CF68B9-3B9F-449F-B1AC-8B2C1508A6EE}" dt="2026-09-23T17:51:00.918" v="11"/>
          <ac:spMkLst>
            <pc:docMk/>
            <pc:sldMk cId="701643949" sldId="292"/>
            <ac:spMk id="3" creationId="{3E9004EB-0026-6779-57A7-AF9E37C5975B}"/>
          </ac:spMkLst>
        </pc:spChg>
      </pc:sldChg>
      <pc:sldChg chg="modSp add mod">
        <pc:chgData name="Lindelwa Twala" userId="282265af-a309-4751-bc79-2af5426b4682" providerId="ADAL" clId="{50CF68B9-3B9F-449F-B1AC-8B2C1508A6EE}" dt="2026-09-25T08:57:48.689" v="54" actId="27636"/>
        <pc:sldMkLst>
          <pc:docMk/>
          <pc:sldMk cId="2797691955" sldId="293"/>
        </pc:sldMkLst>
        <pc:spChg chg="mod">
          <ac:chgData name="Lindelwa Twala" userId="282265af-a309-4751-bc79-2af5426b4682" providerId="ADAL" clId="{50CF68B9-3B9F-449F-B1AC-8B2C1508A6EE}" dt="2026-09-25T08:57:48.689" v="54" actId="27636"/>
          <ac:spMkLst>
            <pc:docMk/>
            <pc:sldMk cId="2797691955" sldId="293"/>
            <ac:spMk id="3" creationId="{9951E157-2ADB-C6EA-E149-111E4F944205}"/>
          </ac:spMkLst>
        </pc:spChg>
      </pc:sldChg>
      <pc:sldChg chg="modSp add mod">
        <pc:chgData name="Lindelwa Twala" userId="282265af-a309-4751-bc79-2af5426b4682" providerId="ADAL" clId="{50CF68B9-3B9F-449F-B1AC-8B2C1508A6EE}" dt="2026-09-25T08:58:37.704" v="68" actId="5793"/>
        <pc:sldMkLst>
          <pc:docMk/>
          <pc:sldMk cId="2342375385" sldId="294"/>
        </pc:sldMkLst>
        <pc:spChg chg="mod">
          <ac:chgData name="Lindelwa Twala" userId="282265af-a309-4751-bc79-2af5426b4682" providerId="ADAL" clId="{50CF68B9-3B9F-449F-B1AC-8B2C1508A6EE}" dt="2026-09-25T08:58:37.704" v="68" actId="5793"/>
          <ac:spMkLst>
            <pc:docMk/>
            <pc:sldMk cId="2342375385" sldId="294"/>
            <ac:spMk id="3" creationId="{1C75F553-023F-73D4-EA87-23B758D71CF0}"/>
          </ac:spMkLst>
        </pc:spChg>
      </pc:sldChg>
      <pc:sldChg chg="modSp add mod">
        <pc:chgData name="Lindelwa Twala" userId="282265af-a309-4751-bc79-2af5426b4682" providerId="ADAL" clId="{50CF68B9-3B9F-449F-B1AC-8B2C1508A6EE}" dt="2026-09-25T09:44:57.807" v="97" actId="5793"/>
        <pc:sldMkLst>
          <pc:docMk/>
          <pc:sldMk cId="3117118757" sldId="295"/>
        </pc:sldMkLst>
        <pc:spChg chg="mod">
          <ac:chgData name="Lindelwa Twala" userId="282265af-a309-4751-bc79-2af5426b4682" providerId="ADAL" clId="{50CF68B9-3B9F-449F-B1AC-8B2C1508A6EE}" dt="2026-09-25T09:44:57.807" v="97" actId="5793"/>
          <ac:spMkLst>
            <pc:docMk/>
            <pc:sldMk cId="3117118757" sldId="295"/>
            <ac:spMk id="3" creationId="{5946D855-D404-37DB-3EBB-B4504F0651A9}"/>
          </ac:spMkLst>
        </pc:spChg>
      </pc:sldChg>
      <pc:sldChg chg="modSp add mod">
        <pc:chgData name="Lindelwa Twala" userId="282265af-a309-4751-bc79-2af5426b4682" providerId="ADAL" clId="{50CF68B9-3B9F-449F-B1AC-8B2C1508A6EE}" dt="2026-09-25T09:49:13.317" v="107" actId="20577"/>
        <pc:sldMkLst>
          <pc:docMk/>
          <pc:sldMk cId="4103148792" sldId="296"/>
        </pc:sldMkLst>
        <pc:spChg chg="mod">
          <ac:chgData name="Lindelwa Twala" userId="282265af-a309-4751-bc79-2af5426b4682" providerId="ADAL" clId="{50CF68B9-3B9F-449F-B1AC-8B2C1508A6EE}" dt="2026-09-25T09:49:13.317" v="107" actId="20577"/>
          <ac:spMkLst>
            <pc:docMk/>
            <pc:sldMk cId="4103148792" sldId="296"/>
            <ac:spMk id="3" creationId="{E7A874AF-165D-E079-9D28-F1DDA560EA5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6A2A8-070A-40A9-8F32-8BEBCEFFEF34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C267C6-750B-41FF-8B55-C8FB696169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72174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That's the whole class: it defines two attributes (</a:t>
            </a:r>
            <a:r>
              <a:rPr lang="en-Z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en-ZA" dirty="0"/>
              <a:t>, </a:t>
            </a:r>
            <a:r>
              <a:rPr lang="en-Z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breed</a:t>
            </a:r>
            <a:r>
              <a:rPr lang="en-ZA" dirty="0"/>
              <a:t>) and one method (</a:t>
            </a:r>
            <a:r>
              <a:rPr lang="en-Z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bark</a:t>
            </a:r>
            <a:r>
              <a:rPr lang="en-ZA" dirty="0"/>
              <a:t>). Nothing has been created or run yet, this is purely the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267C6-750B-41FF-8B55-C8FB6961696C}" type="slidenum">
              <a:rPr lang="en-ZA" smtClean="0"/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51011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C3D0C-2330-F0A0-68CC-177DF4D3B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CEA361-7DE5-FCFB-6ADA-88B7D3922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C5D99-95C3-617A-AE57-26E9E6A72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39217-169D-0569-E9F9-C716B2BEA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BCDD6-89E8-7F4C-5CFE-716D7955D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93138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E1454-0DA7-CACD-ACA6-9DBC1D3A2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5EBF7-DE9A-53F4-4099-269F6B3BC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9525D-1271-F74E-CC24-A89A0C979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4CFB6-F5E7-C0C6-E5A6-058BABC70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673B1-FE90-D2EA-2121-68996B4B6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81591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6D555-557B-03FD-7E32-487AC2FD3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746F3-6A2A-1D6D-B456-39472DB32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0BBDB-C4CE-31D9-AEAC-088E657C0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72811-C177-FF46-1AE6-B986CE7DF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EFCC0-0CA6-74D8-1569-452A478BB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15453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DBCA1-3890-FAAF-8E6D-A058C1128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B5E5E-3B6E-BC84-41F7-3D407BBFD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09550-5F8A-4F1C-06E4-73D6DDB3D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508A0-D7FC-F690-76E6-328F9B3F8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88456-468E-5D79-5C20-D5FC976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4C193-0A08-7706-C60C-CB137F9E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1286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81955-BF42-F3E4-8224-3C2BD2187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5D4D3-E9D6-7450-D3A4-D5CEB5533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34FCA-99D4-A36A-7230-466CE8261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E640E2-5988-D84B-24F6-388141566A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00A645-FEA8-2A35-B69F-7F9EA31737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1ED640-DC98-E8F7-E5D8-AB184D4DD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BC2B19-4567-32F3-D9A2-0F16FD8E1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FFAC91-7329-F63D-6469-96E62A5CB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45480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E6865-94A4-24A3-5524-1C77ADCC8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15A6C5-0C8D-0102-96C3-3AF1E9360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3146FD-5694-87D0-ACC3-B98E733CD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343889-A3C2-7C1D-E130-731033EE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31025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F94E0B-2FC4-5927-F4A5-54694A0D5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4334C-E074-B838-5CA0-5D02C59D9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BAC8E-0FDC-B042-D2AF-21979492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42441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33616-2799-C328-0EAA-DC8F6B9CD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2E2CE-6DDD-9240-7617-B7A128EB6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420B20-947C-1612-A973-0A4C1AC11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0FF63-5C65-77D1-A761-951AC9997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816C1-68EC-9044-1E70-53384D8D7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6AE6E-80B3-CF19-2A39-CA275B9FC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53831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54F3-A98C-9EF8-408F-76E689B12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01E55B-421A-FEE4-8A0C-0B107EE5E9B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8EEF9-B56C-B3F2-3ADA-FC66EB244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39DC0-BF29-2B46-6C7D-2B6022794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85CD1-5CCB-7B7F-1088-32E4600BC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E9A9D-CEF9-0F94-CBD6-4DCF32B9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18483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DD0A4-E0EE-9B00-C33E-01E402B17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AAF49-80AD-3806-AF04-9AE658E4B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1C074-3193-39DD-BE18-549363552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782B1-37F3-84CF-BCA5-F59A907A9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D0E70-521A-D686-F883-9BEB8238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75284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89110A-EB01-119A-97D5-B04A48D31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2E5061-83CE-2D71-C51E-50C6FE3DA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9F077-B29E-136B-D0D4-02719B1A9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6F016-9E5A-465B-9572-FE824B223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4213B-8D71-1B03-A0F0-EE80CE2B7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06070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38F651-1FAE-587E-4AD7-E9EEA2CE5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E5462-C3AE-DCB0-CFF3-66FD95FB3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4BD38-FE31-634C-B5B4-0F8FDEBD7A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BA91E-F9E8-4028-9599-BD6BD482E27A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ADD12-592C-B34E-87CD-AC93D7B69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527D4-5062-3F12-B38F-06C8F1BBD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78324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7D351-529E-79BF-6944-71995C5F1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31F14-6F0D-F971-842A-04F107D826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Introduction to Object-Oriented Programming (OOP)</a:t>
            </a:r>
            <a:endParaRPr lang="en-ZA" b="1" dirty="0"/>
          </a:p>
        </p:txBody>
      </p:sp>
    </p:spTree>
    <p:extLst>
      <p:ext uri="{BB962C8B-B14F-4D97-AF65-F5344CB8AC3E}">
        <p14:creationId xmlns:p14="http://schemas.microsoft.com/office/powerpoint/2010/main" val="3547398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E53ED-DA45-76AC-4E1A-EE78BA7DF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Programming paradigms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15313-A422-5C43-B040-D62AF1D25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ZA" b="1" dirty="0"/>
              <a:t>1. Procedural Programming</a:t>
            </a:r>
          </a:p>
          <a:p>
            <a:r>
              <a:rPr lang="en-ZA" dirty="0"/>
              <a:t>Code as a sequence of step-by-step instructions/procedures (functions) that operate on data. No bundling of data and behavior.</a:t>
            </a:r>
          </a:p>
          <a:p>
            <a:pPr lvl="0"/>
            <a:r>
              <a:rPr lang="en-ZA" b="1" dirty="0"/>
              <a:t>Examples:</a:t>
            </a:r>
            <a:r>
              <a:rPr lang="en-ZA" dirty="0"/>
              <a:t> C, Pascal, early BASIC</a:t>
            </a:r>
          </a:p>
          <a:p>
            <a:pPr lvl="0"/>
            <a:r>
              <a:rPr lang="en-ZA" b="1" dirty="0"/>
              <a:t>Core idea:</a:t>
            </a:r>
            <a:r>
              <a:rPr lang="en-ZA" dirty="0"/>
              <a:t> "Do this, then this, then this."</a:t>
            </a:r>
          </a:p>
          <a:p>
            <a:r>
              <a:rPr lang="en-ZA" b="1" dirty="0"/>
              <a:t>C</a:t>
            </a:r>
          </a:p>
          <a:p>
            <a:r>
              <a:rPr lang="en-ZA" b="1" dirty="0"/>
              <a:t>int add(int a, int b) {</a:t>
            </a:r>
          </a:p>
          <a:p>
            <a:r>
              <a:rPr lang="en-ZA" b="1" dirty="0"/>
              <a:t>    return a + b;</a:t>
            </a:r>
          </a:p>
          <a:p>
            <a:r>
              <a:rPr lang="en-ZA" b="1" dirty="0"/>
              <a:t>}</a:t>
            </a:r>
          </a:p>
          <a:p>
            <a:pPr marL="0" indent="0">
              <a:buNone/>
            </a:pPr>
            <a:r>
              <a:rPr lang="en-ZA" b="1" dirty="0"/>
              <a:t>2. Object-Oriented Programming (OOP)</a:t>
            </a:r>
          </a:p>
          <a:p>
            <a:r>
              <a:rPr lang="en-ZA" dirty="0"/>
              <a:t>Data and behavior are bundled into objects. (Covered in your last question — classes, inheritance, polymorphism, encapsulation.)</a:t>
            </a:r>
          </a:p>
          <a:p>
            <a:pPr lvl="0"/>
            <a:r>
              <a:rPr lang="en-ZA" b="1" dirty="0"/>
              <a:t>Examples:</a:t>
            </a:r>
            <a:r>
              <a:rPr lang="en-ZA" dirty="0"/>
              <a:t> Java, C++, Python, Ruby</a:t>
            </a:r>
          </a:p>
          <a:p>
            <a:pPr lvl="0"/>
            <a:r>
              <a:rPr lang="en-ZA" b="1" dirty="0"/>
              <a:t>Core idea:</a:t>
            </a:r>
            <a:r>
              <a:rPr lang="en-ZA" dirty="0"/>
              <a:t> "Objects that have state and behavior."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02324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FBED9-2F26-0322-A3E8-00EB4FB10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25431-0B2E-D62E-A4F4-54FD4A962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Programming paradigms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3F61B-89F8-9CD9-B661-3E296FFB7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ZA" b="1" dirty="0"/>
              <a:t>3. Functional Programming</a:t>
            </a:r>
          </a:p>
          <a:p>
            <a:r>
              <a:rPr lang="en-ZA" dirty="0"/>
              <a:t>Computation is treated as evaluating mathematical functions. Avoids changing state or mutable data — emphasizes pure functions, immutability, and functions as first-class values.</a:t>
            </a:r>
          </a:p>
          <a:p>
            <a:pPr lvl="0"/>
            <a:r>
              <a:rPr lang="en-ZA" b="1" dirty="0"/>
              <a:t>Examples:</a:t>
            </a:r>
            <a:r>
              <a:rPr lang="en-ZA" dirty="0"/>
              <a:t> Haskell, Lisp, Erlang; Python/JS support functional </a:t>
            </a:r>
            <a:r>
              <a:rPr lang="en-ZA" i="1" dirty="0"/>
              <a:t>style</a:t>
            </a:r>
            <a:endParaRPr lang="en-ZA" dirty="0"/>
          </a:p>
          <a:p>
            <a:pPr lvl="0"/>
            <a:r>
              <a:rPr lang="en-ZA" b="1" dirty="0"/>
              <a:t>Core idea:</a:t>
            </a:r>
            <a:r>
              <a:rPr lang="en-ZA" dirty="0"/>
              <a:t> "Same input always gives same output. No side effects."</a:t>
            </a:r>
          </a:p>
          <a:p>
            <a:r>
              <a:rPr lang="en-ZA" dirty="0"/>
              <a:t>python</a:t>
            </a:r>
          </a:p>
          <a:p>
            <a:r>
              <a:rPr lang="en-ZA" dirty="0"/>
              <a:t># Functional style in Python</a:t>
            </a:r>
          </a:p>
          <a:p>
            <a:r>
              <a:rPr lang="en-ZA" dirty="0"/>
              <a:t>add = lambda a, b: a + b</a:t>
            </a:r>
          </a:p>
          <a:p>
            <a:r>
              <a:rPr lang="en-ZA" dirty="0"/>
              <a:t>squares = list(map(lambda x: x**2, [1, 2, 3]))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94782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838B7-55D7-AE48-46AE-DFA77E14A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F4CE-B3D5-7968-F80E-DBAB13612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Programming paradigms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43543-48D3-2D25-CA68-AE7FBE256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ZA" b="1" dirty="0"/>
              <a:t>4. Logical Programming</a:t>
            </a:r>
          </a:p>
          <a:p>
            <a:r>
              <a:rPr lang="en-ZA" dirty="0"/>
              <a:t>Programs are written as a set of facts and rules. You state </a:t>
            </a:r>
            <a:r>
              <a:rPr lang="en-ZA" i="1" dirty="0"/>
              <a:t>what</a:t>
            </a:r>
            <a:r>
              <a:rPr lang="en-ZA" dirty="0"/>
              <a:t> is true, and the system figures out </a:t>
            </a:r>
            <a:r>
              <a:rPr lang="en-ZA" i="1" dirty="0"/>
              <a:t>how</a:t>
            </a:r>
            <a:r>
              <a:rPr lang="en-ZA" dirty="0"/>
              <a:t> to satisfy queries against those rules (uses inference/search, not explicit steps).</a:t>
            </a:r>
          </a:p>
          <a:p>
            <a:pPr lvl="0"/>
            <a:r>
              <a:rPr lang="en-ZA" b="1" dirty="0"/>
              <a:t>Examples:</a:t>
            </a:r>
            <a:r>
              <a:rPr lang="en-ZA" dirty="0"/>
              <a:t> </a:t>
            </a:r>
            <a:r>
              <a:rPr lang="en-ZA" dirty="0" err="1"/>
              <a:t>Prolog</a:t>
            </a:r>
            <a:r>
              <a:rPr lang="en-ZA" dirty="0"/>
              <a:t>, </a:t>
            </a:r>
            <a:r>
              <a:rPr lang="en-ZA" dirty="0" err="1"/>
              <a:t>Datalog</a:t>
            </a:r>
            <a:endParaRPr lang="en-ZA" dirty="0"/>
          </a:p>
          <a:p>
            <a:pPr lvl="0"/>
            <a:r>
              <a:rPr lang="en-ZA" b="1" dirty="0"/>
              <a:t>Core idea:</a:t>
            </a:r>
            <a:r>
              <a:rPr lang="en-ZA" dirty="0"/>
              <a:t> "Here are the facts and rules — you figure out the answer."</a:t>
            </a:r>
          </a:p>
          <a:p>
            <a:r>
              <a:rPr lang="en-ZA" b="1" dirty="0" err="1">
                <a:solidFill>
                  <a:srgbClr val="FF0000"/>
                </a:solidFill>
              </a:rPr>
              <a:t>prolog</a:t>
            </a:r>
            <a:endParaRPr lang="en-ZA" b="1" dirty="0">
              <a:solidFill>
                <a:srgbClr val="FF0000"/>
              </a:solidFill>
            </a:endParaRPr>
          </a:p>
          <a:p>
            <a:r>
              <a:rPr lang="en-ZA" b="1" dirty="0"/>
              <a:t>parent(tom, bob).</a:t>
            </a:r>
          </a:p>
          <a:p>
            <a:r>
              <a:rPr lang="en-ZA" b="1" dirty="0"/>
              <a:t>parent(bob, </a:t>
            </a:r>
            <a:r>
              <a:rPr lang="en-ZA" b="1" dirty="0" err="1"/>
              <a:t>ann</a:t>
            </a:r>
            <a:r>
              <a:rPr lang="en-ZA" b="1" dirty="0"/>
              <a:t>).</a:t>
            </a:r>
          </a:p>
          <a:p>
            <a:r>
              <a:rPr lang="en-ZA" b="1" dirty="0"/>
              <a:t>grandparent(X, Y) :- parent(X, Z), parent(Z, Y).</a:t>
            </a:r>
          </a:p>
          <a:p>
            <a:r>
              <a:rPr lang="en-ZA" dirty="0"/>
              <a:t>% Query: grandparent(tom, </a:t>
            </a:r>
            <a:r>
              <a:rPr lang="en-ZA" dirty="0" err="1"/>
              <a:t>ann</a:t>
            </a:r>
            <a:r>
              <a:rPr lang="en-ZA" dirty="0"/>
              <a:t>). → true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6630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1F3C5-E37D-F6D7-D2F3-B33CE5AA2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488A0-71D2-5286-11FE-73037F4F8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Programming paradigms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E56B1-D275-D728-E826-D8D638CA7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ZA" b="1" dirty="0"/>
              <a:t>5. Declarative Programming (logical &amp; functional)</a:t>
            </a:r>
          </a:p>
          <a:p>
            <a:r>
              <a:rPr lang="en-ZA" dirty="0"/>
              <a:t>A broader umbrella — you describe </a:t>
            </a:r>
            <a:r>
              <a:rPr lang="en-ZA" i="1" dirty="0"/>
              <a:t>what</a:t>
            </a:r>
            <a:r>
              <a:rPr lang="en-ZA" dirty="0"/>
              <a:t> you want, not </a:t>
            </a:r>
            <a:r>
              <a:rPr lang="en-ZA" i="1" dirty="0"/>
              <a:t>how</a:t>
            </a:r>
            <a:r>
              <a:rPr lang="en-ZA" dirty="0"/>
              <a:t> to get it. Functional and logical programming are both subsets of declarative programming. SQL is the classic example.</a:t>
            </a:r>
          </a:p>
          <a:p>
            <a:pPr lvl="0"/>
            <a:r>
              <a:rPr lang="en-ZA" b="1" dirty="0"/>
              <a:t>Examples:</a:t>
            </a:r>
            <a:r>
              <a:rPr lang="en-ZA" dirty="0"/>
              <a:t> SQL, HTML, regex, </a:t>
            </a:r>
            <a:r>
              <a:rPr lang="en-ZA" dirty="0" err="1"/>
              <a:t>Prolog</a:t>
            </a:r>
            <a:endParaRPr lang="en-ZA" dirty="0"/>
          </a:p>
          <a:p>
            <a:pPr lvl="0"/>
            <a:r>
              <a:rPr lang="en-ZA" b="1" dirty="0"/>
              <a:t>Core idea:</a:t>
            </a:r>
            <a:r>
              <a:rPr lang="en-ZA" dirty="0"/>
              <a:t> "Describe the result, not the steps."</a:t>
            </a:r>
          </a:p>
          <a:p>
            <a:r>
              <a:rPr lang="en-ZA" dirty="0" err="1"/>
              <a:t>sql</a:t>
            </a:r>
            <a:endParaRPr lang="en-ZA" dirty="0"/>
          </a:p>
          <a:p>
            <a:r>
              <a:rPr lang="en-ZA" dirty="0"/>
              <a:t>SELECT name FROM employees WHERE department = 'Finance’;</a:t>
            </a:r>
          </a:p>
          <a:p>
            <a:endParaRPr lang="en-ZA" dirty="0"/>
          </a:p>
          <a:p>
            <a:pPr marL="0" indent="0">
              <a:buNone/>
            </a:pPr>
            <a:r>
              <a:rPr lang="en-ZA" b="1" dirty="0"/>
              <a:t>6. Imperative Programming (procedural &amp; OOP)</a:t>
            </a:r>
          </a:p>
          <a:p>
            <a:r>
              <a:rPr lang="en-ZA" dirty="0"/>
              <a:t>The opposite umbrella to declarative — you explicitly tell the computer </a:t>
            </a:r>
            <a:r>
              <a:rPr lang="en-ZA" i="1" dirty="0"/>
              <a:t>how</a:t>
            </a:r>
            <a:r>
              <a:rPr lang="en-ZA" dirty="0"/>
              <a:t> to do something, step by step. Procedural and OOP are both subsets of imperative programming.</a:t>
            </a:r>
          </a:p>
          <a:p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33677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D6078-3440-4357-1403-947E1257A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Four core pillars of OOP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5947E-E388-C668-83CB-58FC23324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ZA" b="1" dirty="0"/>
              <a:t>1. Classes and Objects</a:t>
            </a:r>
          </a:p>
          <a:p>
            <a:r>
              <a:rPr lang="en-ZA" dirty="0"/>
              <a:t>A </a:t>
            </a:r>
            <a:r>
              <a:rPr lang="en-ZA" b="1" dirty="0"/>
              <a:t>class</a:t>
            </a:r>
            <a:r>
              <a:rPr lang="en-ZA" dirty="0"/>
              <a:t> is a blueprint. An </a:t>
            </a:r>
            <a:r>
              <a:rPr lang="en-ZA" b="1" dirty="0"/>
              <a:t>object</a:t>
            </a:r>
            <a:r>
              <a:rPr lang="en-ZA" dirty="0"/>
              <a:t> is an instance created from that blueprint.</a:t>
            </a:r>
          </a:p>
          <a:p>
            <a:r>
              <a:rPr lang="en-ZA" dirty="0"/>
              <a:t>python</a:t>
            </a:r>
          </a:p>
          <a:p>
            <a:r>
              <a:rPr lang="en-ZA" dirty="0"/>
              <a:t>class Car:</a:t>
            </a:r>
          </a:p>
          <a:p>
            <a:r>
              <a:rPr lang="en-ZA" dirty="0"/>
              <a:t>    def __</a:t>
            </a:r>
            <a:r>
              <a:rPr lang="en-ZA" dirty="0" err="1"/>
              <a:t>init</a:t>
            </a:r>
            <a:r>
              <a:rPr lang="en-ZA" dirty="0"/>
              <a:t>__(self, make, model):</a:t>
            </a:r>
          </a:p>
          <a:p>
            <a:r>
              <a:rPr lang="en-ZA" dirty="0"/>
              <a:t>        </a:t>
            </a:r>
            <a:r>
              <a:rPr lang="en-ZA" dirty="0" err="1"/>
              <a:t>self.make</a:t>
            </a:r>
            <a:r>
              <a:rPr lang="en-ZA" dirty="0"/>
              <a:t> = make</a:t>
            </a:r>
          </a:p>
          <a:p>
            <a:r>
              <a:rPr lang="en-ZA" dirty="0"/>
              <a:t>        </a:t>
            </a:r>
            <a:r>
              <a:rPr lang="en-ZA" dirty="0" err="1"/>
              <a:t>self.model</a:t>
            </a:r>
            <a:r>
              <a:rPr lang="en-ZA" dirty="0"/>
              <a:t> = model</a:t>
            </a:r>
          </a:p>
          <a:p>
            <a:endParaRPr lang="en-ZA" dirty="0"/>
          </a:p>
          <a:p>
            <a:r>
              <a:rPr lang="en-ZA" dirty="0" err="1"/>
              <a:t>my_car</a:t>
            </a:r>
            <a:r>
              <a:rPr lang="en-ZA" dirty="0"/>
              <a:t> = Car("Toyota", "Corolla")  # </a:t>
            </a:r>
            <a:r>
              <a:rPr lang="en-ZA" dirty="0" err="1"/>
              <a:t>my_car</a:t>
            </a:r>
            <a:r>
              <a:rPr lang="en-ZA" dirty="0"/>
              <a:t> is an object (instance) of Car</a:t>
            </a:r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77403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05BCB-29DF-F0F3-7E7A-97936A742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7F91B-1630-5865-32E4-A720E1B71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Four core pillars of OOP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95F3F-84AF-6E12-6886-F7AFAEB73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ZA" b="1" dirty="0"/>
              <a:t>2. Encapsulation</a:t>
            </a:r>
          </a:p>
          <a:p>
            <a:r>
              <a:rPr lang="en-ZA" dirty="0"/>
              <a:t>Bundling data (attributes) and behavior (methods) together, and controlling access to them.</a:t>
            </a:r>
          </a:p>
          <a:p>
            <a:r>
              <a:rPr lang="en-ZA" dirty="0"/>
              <a:t>python</a:t>
            </a:r>
          </a:p>
          <a:p>
            <a:r>
              <a:rPr lang="en-ZA" dirty="0"/>
              <a:t>class </a:t>
            </a:r>
            <a:r>
              <a:rPr lang="en-ZA" dirty="0" err="1"/>
              <a:t>BankAccount</a:t>
            </a:r>
            <a:r>
              <a:rPr lang="en-ZA" dirty="0"/>
              <a:t>:</a:t>
            </a:r>
          </a:p>
          <a:p>
            <a:r>
              <a:rPr lang="en-ZA" dirty="0"/>
              <a:t>    def __</a:t>
            </a:r>
            <a:r>
              <a:rPr lang="en-ZA" dirty="0" err="1"/>
              <a:t>init</a:t>
            </a:r>
            <a:r>
              <a:rPr lang="en-ZA" dirty="0"/>
              <a:t>__(self, balance):</a:t>
            </a:r>
          </a:p>
          <a:p>
            <a:r>
              <a:rPr lang="en-ZA" dirty="0"/>
              <a:t>        </a:t>
            </a:r>
            <a:r>
              <a:rPr lang="en-ZA" dirty="0" err="1"/>
              <a:t>self._balance</a:t>
            </a:r>
            <a:r>
              <a:rPr lang="en-ZA" dirty="0"/>
              <a:t> = balance  # underscore = "internal use" convention</a:t>
            </a:r>
          </a:p>
          <a:p>
            <a:endParaRPr lang="en-ZA" dirty="0"/>
          </a:p>
          <a:p>
            <a:r>
              <a:rPr lang="en-ZA" dirty="0"/>
              <a:t>    def deposit(self, amount):</a:t>
            </a:r>
          </a:p>
          <a:p>
            <a:r>
              <a:rPr lang="en-ZA" dirty="0"/>
              <a:t>        </a:t>
            </a:r>
            <a:r>
              <a:rPr lang="en-ZA" dirty="0" err="1"/>
              <a:t>self._balance</a:t>
            </a:r>
            <a:r>
              <a:rPr lang="en-ZA" dirty="0"/>
              <a:t> += amount</a:t>
            </a:r>
          </a:p>
          <a:p>
            <a:endParaRPr lang="en-ZA" dirty="0"/>
          </a:p>
          <a:p>
            <a:r>
              <a:rPr lang="en-ZA" dirty="0"/>
              <a:t>    def </a:t>
            </a:r>
            <a:r>
              <a:rPr lang="en-ZA" dirty="0" err="1"/>
              <a:t>get_balance</a:t>
            </a:r>
            <a:r>
              <a:rPr lang="en-ZA" dirty="0"/>
              <a:t>(self):</a:t>
            </a:r>
          </a:p>
          <a:p>
            <a:r>
              <a:rPr lang="en-ZA" dirty="0"/>
              <a:t>        return </a:t>
            </a:r>
            <a:r>
              <a:rPr lang="en-ZA" dirty="0" err="1"/>
              <a:t>self._balance</a:t>
            </a:r>
            <a:endParaRPr lang="en-ZA" dirty="0"/>
          </a:p>
          <a:p>
            <a:r>
              <a:rPr lang="en-ZA" dirty="0"/>
              <a:t>Python doesn't have true private variables — _balance is a convention, __balance triggers name-mangling, but nothing is truly locked. The point is controlling </a:t>
            </a:r>
            <a:r>
              <a:rPr lang="en-ZA" i="1" dirty="0"/>
              <a:t>how</a:t>
            </a:r>
            <a:r>
              <a:rPr lang="en-ZA" dirty="0"/>
              <a:t> data gets modified, not just hiding it.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84122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84C56-C32B-7E19-C60D-DA8C7EDD9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8884E-0BBD-08CE-5248-12D27A4F8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Four core pillars of OOP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83887-BB97-F676-23A7-301056DEF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ZA" b="1" dirty="0"/>
              <a:t>3. Inheritance</a:t>
            </a:r>
          </a:p>
          <a:p>
            <a:r>
              <a:rPr lang="en-ZA" dirty="0"/>
              <a:t>A class can inherit attributes/methods from another class, avoiding duplicate code.</a:t>
            </a:r>
          </a:p>
          <a:p>
            <a:r>
              <a:rPr lang="en-ZA" dirty="0"/>
              <a:t>python</a:t>
            </a:r>
          </a:p>
          <a:p>
            <a:r>
              <a:rPr lang="en-ZA" dirty="0"/>
              <a:t>class Vehicle:</a:t>
            </a:r>
          </a:p>
          <a:p>
            <a:r>
              <a:rPr lang="en-ZA" dirty="0"/>
              <a:t>    def __</a:t>
            </a:r>
            <a:r>
              <a:rPr lang="en-ZA" dirty="0" err="1"/>
              <a:t>init</a:t>
            </a:r>
            <a:r>
              <a:rPr lang="en-ZA" dirty="0"/>
              <a:t>__(self, wheels):</a:t>
            </a:r>
          </a:p>
          <a:p>
            <a:r>
              <a:rPr lang="en-ZA" dirty="0"/>
              <a:t>        </a:t>
            </a:r>
            <a:r>
              <a:rPr lang="en-ZA" dirty="0" err="1"/>
              <a:t>self.wheels</a:t>
            </a:r>
            <a:r>
              <a:rPr lang="en-ZA" dirty="0"/>
              <a:t> = wheels</a:t>
            </a:r>
          </a:p>
          <a:p>
            <a:endParaRPr lang="en-ZA" dirty="0"/>
          </a:p>
          <a:p>
            <a:r>
              <a:rPr lang="en-ZA" dirty="0"/>
              <a:t>    def describe(self):</a:t>
            </a:r>
          </a:p>
          <a:p>
            <a:r>
              <a:rPr lang="en-ZA" dirty="0"/>
              <a:t>        return </a:t>
            </a:r>
            <a:r>
              <a:rPr lang="en-ZA" dirty="0" err="1"/>
              <a:t>f"This</a:t>
            </a:r>
            <a:r>
              <a:rPr lang="en-ZA" dirty="0"/>
              <a:t> vehicle has {</a:t>
            </a:r>
            <a:r>
              <a:rPr lang="en-ZA" dirty="0" err="1"/>
              <a:t>self.wheels</a:t>
            </a:r>
            <a:r>
              <a:rPr lang="en-ZA" dirty="0"/>
              <a:t>} wheels."</a:t>
            </a:r>
          </a:p>
          <a:p>
            <a:endParaRPr lang="en-ZA" dirty="0"/>
          </a:p>
          <a:p>
            <a:r>
              <a:rPr lang="en-ZA" dirty="0"/>
              <a:t>class Motorcycle(Vehicle):</a:t>
            </a:r>
          </a:p>
          <a:p>
            <a:r>
              <a:rPr lang="en-ZA" dirty="0"/>
              <a:t>    def __</a:t>
            </a:r>
            <a:r>
              <a:rPr lang="en-ZA" dirty="0" err="1"/>
              <a:t>init</a:t>
            </a:r>
            <a:r>
              <a:rPr lang="en-ZA" dirty="0"/>
              <a:t>__(self):</a:t>
            </a:r>
          </a:p>
          <a:p>
            <a:r>
              <a:rPr lang="en-ZA" dirty="0"/>
              <a:t>        super().__</a:t>
            </a:r>
            <a:r>
              <a:rPr lang="en-ZA" dirty="0" err="1"/>
              <a:t>init</a:t>
            </a:r>
            <a:r>
              <a:rPr lang="en-ZA" dirty="0"/>
              <a:t>__(wheels=2)  # calls parent's __</a:t>
            </a:r>
            <a:r>
              <a:rPr lang="en-ZA" dirty="0" err="1"/>
              <a:t>init</a:t>
            </a:r>
            <a:r>
              <a:rPr lang="en-ZA" dirty="0"/>
              <a:t>__</a:t>
            </a:r>
          </a:p>
          <a:p>
            <a:endParaRPr lang="en-ZA" dirty="0"/>
          </a:p>
          <a:p>
            <a:r>
              <a:rPr lang="en-ZA" dirty="0"/>
              <a:t>m = Motorcycle()</a:t>
            </a:r>
          </a:p>
          <a:p>
            <a:r>
              <a:rPr lang="en-ZA" dirty="0"/>
              <a:t>print(</a:t>
            </a:r>
            <a:r>
              <a:rPr lang="en-ZA" dirty="0" err="1"/>
              <a:t>m.describe</a:t>
            </a:r>
            <a:r>
              <a:rPr lang="en-ZA" dirty="0"/>
              <a:t>())  # "This vehicle has 2 wheels."</a:t>
            </a:r>
          </a:p>
          <a:p>
            <a:r>
              <a:rPr lang="en-ZA" dirty="0"/>
              <a:t>Motorcycle is the </a:t>
            </a:r>
            <a:r>
              <a:rPr lang="en-ZA" b="1" dirty="0"/>
              <a:t>child/subclass</a:t>
            </a:r>
            <a:r>
              <a:rPr lang="en-ZA" dirty="0"/>
              <a:t>, Vehicle is the </a:t>
            </a:r>
            <a:r>
              <a:rPr lang="en-ZA" b="1" dirty="0"/>
              <a:t>parent/superclass</a:t>
            </a:r>
            <a:r>
              <a:rPr lang="en-ZA" dirty="0"/>
              <a:t>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15275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B7D85-C481-B2B1-E6AB-2482D1983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E213F-109C-DA9B-87CE-53D201F61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Four core pillars of OOP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D56AF-CB8C-87CB-632E-4D00DBF4B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ZA" b="1" dirty="0"/>
              <a:t>4. Polymorphism</a:t>
            </a:r>
          </a:p>
          <a:p>
            <a:r>
              <a:rPr lang="en-ZA" dirty="0"/>
              <a:t>Different classes can be used through the same interface, each responding differently to the same method call.</a:t>
            </a:r>
          </a:p>
          <a:p>
            <a:r>
              <a:rPr lang="en-ZA" dirty="0"/>
              <a:t>python</a:t>
            </a:r>
          </a:p>
          <a:p>
            <a:r>
              <a:rPr lang="en-ZA" dirty="0"/>
              <a:t>class Dog:</a:t>
            </a:r>
          </a:p>
          <a:p>
            <a:r>
              <a:rPr lang="en-ZA" dirty="0"/>
              <a:t>    def speak(self):</a:t>
            </a:r>
          </a:p>
          <a:p>
            <a:r>
              <a:rPr lang="en-ZA" dirty="0"/>
              <a:t>        return "Woof"</a:t>
            </a:r>
          </a:p>
          <a:p>
            <a:endParaRPr lang="en-ZA" dirty="0"/>
          </a:p>
          <a:p>
            <a:r>
              <a:rPr lang="en-ZA" dirty="0"/>
              <a:t>class Cat:</a:t>
            </a:r>
          </a:p>
          <a:p>
            <a:r>
              <a:rPr lang="en-ZA" dirty="0"/>
              <a:t>    def speak(self):</a:t>
            </a:r>
          </a:p>
          <a:p>
            <a:r>
              <a:rPr lang="en-ZA" dirty="0"/>
              <a:t>        return "Meow"</a:t>
            </a:r>
          </a:p>
          <a:p>
            <a:endParaRPr lang="en-ZA" dirty="0"/>
          </a:p>
          <a:p>
            <a:r>
              <a:rPr lang="en-ZA" dirty="0"/>
              <a:t>for animal in [Dog(), Cat()]:</a:t>
            </a:r>
          </a:p>
          <a:p>
            <a:r>
              <a:rPr lang="en-ZA" dirty="0"/>
              <a:t>    print(</a:t>
            </a:r>
            <a:r>
              <a:rPr lang="en-ZA" dirty="0" err="1"/>
              <a:t>animal.speak</a:t>
            </a:r>
            <a:r>
              <a:rPr lang="en-ZA" dirty="0"/>
              <a:t>())  # Woof, then Meow</a:t>
            </a:r>
          </a:p>
          <a:p>
            <a:r>
              <a:rPr lang="en-ZA" dirty="0"/>
              <a:t>Same method name (speak), different behavior depending on the object's class.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20285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75D49-DEFB-20F1-4F20-524873DF8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5B578-6A32-D313-42EC-1456B73C2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Four pillars of OOP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004EB-0026-6779-57A7-AF9E37C59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ZA" b="1" dirty="0"/>
              <a:t>Abstraction</a:t>
            </a:r>
          </a:p>
          <a:p>
            <a:r>
              <a:rPr lang="en-ZA" dirty="0"/>
              <a:t>Hiding complex implementation details behind a simple interface. In Python this is often done with abstract base classes:</a:t>
            </a:r>
          </a:p>
          <a:p>
            <a:r>
              <a:rPr lang="en-ZA" dirty="0"/>
              <a:t>python</a:t>
            </a:r>
          </a:p>
          <a:p>
            <a:r>
              <a:rPr lang="en-ZA" dirty="0"/>
              <a:t>from </a:t>
            </a:r>
            <a:r>
              <a:rPr lang="en-ZA" dirty="0" err="1"/>
              <a:t>abc</a:t>
            </a:r>
            <a:r>
              <a:rPr lang="en-ZA" dirty="0"/>
              <a:t> import ABC, </a:t>
            </a:r>
            <a:r>
              <a:rPr lang="en-ZA" dirty="0" err="1"/>
              <a:t>abstractmethod</a:t>
            </a:r>
            <a:endParaRPr lang="en-ZA" dirty="0"/>
          </a:p>
          <a:p>
            <a:endParaRPr lang="en-ZA" dirty="0"/>
          </a:p>
          <a:p>
            <a:r>
              <a:rPr lang="en-ZA" dirty="0"/>
              <a:t>class Shape(ABC):</a:t>
            </a:r>
          </a:p>
          <a:p>
            <a:r>
              <a:rPr lang="en-ZA" dirty="0"/>
              <a:t>    @abstractmethod</a:t>
            </a:r>
          </a:p>
          <a:p>
            <a:r>
              <a:rPr lang="en-ZA" dirty="0"/>
              <a:t>    def area(self):</a:t>
            </a:r>
          </a:p>
          <a:p>
            <a:r>
              <a:rPr lang="en-ZA" dirty="0"/>
              <a:t>        pass</a:t>
            </a:r>
          </a:p>
          <a:p>
            <a:endParaRPr lang="en-ZA" dirty="0"/>
          </a:p>
          <a:p>
            <a:r>
              <a:rPr lang="en-ZA" dirty="0"/>
              <a:t>class Square(Shape):</a:t>
            </a:r>
          </a:p>
          <a:p>
            <a:r>
              <a:rPr lang="en-ZA" dirty="0"/>
              <a:t>    def __</a:t>
            </a:r>
            <a:r>
              <a:rPr lang="en-ZA" dirty="0" err="1"/>
              <a:t>init</a:t>
            </a:r>
            <a:r>
              <a:rPr lang="en-ZA" dirty="0"/>
              <a:t>__(self, side):</a:t>
            </a:r>
          </a:p>
          <a:p>
            <a:r>
              <a:rPr lang="en-ZA" dirty="0"/>
              <a:t>        </a:t>
            </a:r>
            <a:r>
              <a:rPr lang="en-ZA" dirty="0" err="1"/>
              <a:t>self.side</a:t>
            </a:r>
            <a:r>
              <a:rPr lang="en-ZA" dirty="0"/>
              <a:t> = side</a:t>
            </a:r>
          </a:p>
          <a:p>
            <a:endParaRPr lang="en-ZA" dirty="0"/>
          </a:p>
          <a:p>
            <a:r>
              <a:rPr lang="en-ZA" dirty="0"/>
              <a:t>    def area(self):</a:t>
            </a:r>
          </a:p>
          <a:p>
            <a:r>
              <a:rPr lang="en-ZA" dirty="0"/>
              <a:t>        return </a:t>
            </a:r>
            <a:r>
              <a:rPr lang="en-ZA" dirty="0" err="1"/>
              <a:t>self.side</a:t>
            </a:r>
            <a:r>
              <a:rPr lang="en-ZA" dirty="0"/>
              <a:t> ** 2</a:t>
            </a:r>
          </a:p>
          <a:p>
            <a:r>
              <a:rPr lang="en-ZA" dirty="0"/>
              <a:t>Shape can't be instantiated directly — it forces any subclass to implement area().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01643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39EC2-D0BB-5761-23CC-82EA2B4B5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4869-E7EE-0A99-5AED-F65BA60F86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Classes and objects in Python</a:t>
            </a:r>
            <a:endParaRPr lang="en-ZA" b="1" dirty="0"/>
          </a:p>
        </p:txBody>
      </p:sp>
    </p:spTree>
    <p:extLst>
      <p:ext uri="{BB962C8B-B14F-4D97-AF65-F5344CB8AC3E}">
        <p14:creationId xmlns:p14="http://schemas.microsoft.com/office/powerpoint/2010/main" val="58665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F64B5-AA9B-B0BB-EB87-F2851FEC7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3FB56-378E-6F22-7294-40EED1319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ZA" dirty="0"/>
              <a:t>A class is a blueprint or template</a:t>
            </a:r>
          </a:p>
          <a:p>
            <a:pPr lvl="0"/>
            <a:r>
              <a:rPr lang="en-ZA" dirty="0"/>
              <a:t>It describes what something </a:t>
            </a:r>
            <a:r>
              <a:rPr lang="en-ZA" i="1" dirty="0"/>
              <a:t>should</a:t>
            </a:r>
            <a:r>
              <a:rPr lang="en-ZA" dirty="0"/>
              <a:t> look like, but isn't the real thing itself</a:t>
            </a:r>
          </a:p>
          <a:p>
            <a:pPr marL="0" indent="0">
              <a:buNone/>
            </a:pPr>
            <a:r>
              <a:rPr lang="en-ZA" b="1" dirty="0"/>
              <a:t>What a class contains:</a:t>
            </a:r>
            <a:endParaRPr lang="en-ZA" dirty="0"/>
          </a:p>
          <a:p>
            <a:pPr lvl="0"/>
            <a:r>
              <a:rPr lang="en-ZA" dirty="0"/>
              <a:t>Attributes — the data/info it will hold (like </a:t>
            </a:r>
            <a:r>
              <a:rPr lang="en-ZA" i="1" dirty="0"/>
              <a:t>name</a:t>
            </a:r>
            <a:r>
              <a:rPr lang="en-ZA" dirty="0"/>
              <a:t>, </a:t>
            </a:r>
            <a:r>
              <a:rPr lang="en-ZA" i="1" dirty="0"/>
              <a:t>age</a:t>
            </a:r>
            <a:r>
              <a:rPr lang="en-ZA" dirty="0"/>
              <a:t>, </a:t>
            </a:r>
            <a:r>
              <a:rPr lang="en-ZA" i="1" dirty="0" err="1"/>
              <a:t>color</a:t>
            </a:r>
            <a:r>
              <a:rPr lang="en-ZA" dirty="0"/>
              <a:t>)</a:t>
            </a:r>
          </a:p>
          <a:p>
            <a:pPr lvl="0"/>
            <a:r>
              <a:rPr lang="en-ZA" dirty="0"/>
              <a:t>Methods — the actions it can do (like </a:t>
            </a:r>
            <a:r>
              <a:rPr lang="en-ZA" i="1" dirty="0"/>
              <a:t>bark</a:t>
            </a:r>
            <a:r>
              <a:rPr lang="en-ZA" dirty="0"/>
              <a:t>, </a:t>
            </a:r>
            <a:r>
              <a:rPr lang="en-ZA" i="1" dirty="0"/>
              <a:t>drive</a:t>
            </a:r>
            <a:r>
              <a:rPr lang="en-ZA" dirty="0"/>
              <a:t>, </a:t>
            </a:r>
            <a:r>
              <a:rPr lang="en-ZA" i="1" dirty="0"/>
              <a:t>save</a:t>
            </a:r>
            <a:r>
              <a:rPr lang="en-ZA" dirty="0"/>
              <a:t>)</a:t>
            </a:r>
          </a:p>
          <a:p>
            <a:pPr marL="0" indent="0">
              <a:buNone/>
            </a:pPr>
            <a:r>
              <a:rPr lang="en-ZA" b="1" dirty="0"/>
              <a:t>Simple example:</a:t>
            </a:r>
            <a:endParaRPr lang="en-ZA" dirty="0"/>
          </a:p>
          <a:p>
            <a:pPr lvl="0"/>
            <a:r>
              <a:rPr lang="en-ZA" dirty="0"/>
              <a:t>A Dog class might say: "every dog has a name and a breed, and every dog can bark"</a:t>
            </a:r>
          </a:p>
          <a:p>
            <a:pPr lvl="0"/>
            <a:r>
              <a:rPr lang="en-ZA" dirty="0"/>
              <a:t>That's it — the class is just the definition, nothing is created yet</a:t>
            </a:r>
          </a:p>
          <a:p>
            <a:pPr marL="0" indent="0">
              <a:buNone/>
            </a:pPr>
            <a:r>
              <a:rPr lang="en-ZA" b="1" dirty="0"/>
              <a:t>Why we write classes:</a:t>
            </a:r>
            <a:endParaRPr lang="en-ZA" dirty="0"/>
          </a:p>
          <a:p>
            <a:pPr lvl="0"/>
            <a:r>
              <a:rPr lang="en-ZA" dirty="0"/>
              <a:t>So we don't repeat the same structure over and over</a:t>
            </a:r>
          </a:p>
          <a:p>
            <a:pPr lvl="0"/>
            <a:r>
              <a:rPr lang="en-ZA" dirty="0"/>
              <a:t>One class = one reusable definition for many future things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AC9E07-63C6-E776-40B3-717F14603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431" y="0"/>
            <a:ext cx="2715569" cy="214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166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31BCF-DA82-36EA-E52B-704FBEF23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 example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51875-B880-A986-D199-F810AE6E7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ZA" dirty="0"/>
              <a:t>python</a:t>
            </a:r>
          </a:p>
          <a:p>
            <a:r>
              <a:rPr lang="en-ZA" dirty="0"/>
              <a:t>class</a:t>
            </a:r>
            <a:r>
              <a:rPr lang="en-ZA" b="1" dirty="0">
                <a:solidFill>
                  <a:srgbClr val="FF0000"/>
                </a:solidFill>
              </a:rPr>
              <a:t> Dog</a:t>
            </a:r>
            <a:r>
              <a:rPr lang="en-ZA" dirty="0"/>
              <a:t>:				</a:t>
            </a:r>
            <a:r>
              <a:rPr lang="en-ZA" b="1" dirty="0">
                <a:solidFill>
                  <a:srgbClr val="FF0000"/>
                </a:solidFill>
              </a:rPr>
              <a:t># Has to be a capital letter</a:t>
            </a:r>
          </a:p>
          <a:p>
            <a:r>
              <a:rPr lang="en-ZA" dirty="0"/>
              <a:t>    def __</a:t>
            </a:r>
            <a:r>
              <a:rPr lang="en-ZA" dirty="0" err="1"/>
              <a:t>init</a:t>
            </a:r>
            <a:r>
              <a:rPr lang="en-ZA" dirty="0"/>
              <a:t>__(self, name, breed):</a:t>
            </a:r>
          </a:p>
          <a:p>
            <a:r>
              <a:rPr lang="en-ZA" dirty="0"/>
              <a:t>        self.</a:t>
            </a:r>
            <a:r>
              <a:rPr lang="en-ZA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name</a:t>
            </a:r>
            <a:r>
              <a:rPr lang="en-ZA" dirty="0"/>
              <a:t> = name			</a:t>
            </a:r>
            <a:r>
              <a:rPr lang="en-ZA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# Attributes</a:t>
            </a:r>
          </a:p>
          <a:p>
            <a:r>
              <a:rPr lang="en-ZA" dirty="0"/>
              <a:t>        </a:t>
            </a:r>
            <a:r>
              <a:rPr lang="en-ZA" dirty="0" err="1"/>
              <a:t>self.</a:t>
            </a:r>
            <a:r>
              <a:rPr lang="en-ZA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breed</a:t>
            </a:r>
            <a:r>
              <a:rPr lang="en-ZA" dirty="0"/>
              <a:t> = breed</a:t>
            </a:r>
          </a:p>
          <a:p>
            <a:endParaRPr lang="en-ZA" dirty="0"/>
          </a:p>
          <a:p>
            <a:r>
              <a:rPr lang="en-ZA" dirty="0"/>
              <a:t>    def </a:t>
            </a:r>
            <a:r>
              <a:rPr lang="en-ZA" b="1" dirty="0">
                <a:solidFill>
                  <a:srgbClr val="00B050"/>
                </a:solidFill>
              </a:rPr>
              <a:t>bark</a:t>
            </a:r>
            <a:r>
              <a:rPr lang="en-ZA" dirty="0"/>
              <a:t>(</a:t>
            </a:r>
            <a:r>
              <a:rPr lang="en-ZA"/>
              <a:t>self):				</a:t>
            </a:r>
            <a:r>
              <a:rPr lang="en-ZA" b="1">
                <a:solidFill>
                  <a:srgbClr val="00B050"/>
                </a:solidFill>
              </a:rPr>
              <a:t># Action</a:t>
            </a:r>
            <a:endParaRPr lang="en-ZA" dirty="0"/>
          </a:p>
          <a:p>
            <a:r>
              <a:rPr lang="en-ZA" dirty="0"/>
              <a:t>        return f"{self.name} says Woof!"</a:t>
            </a:r>
          </a:p>
          <a:p>
            <a:pPr marL="0" indent="0">
              <a:buNone/>
            </a:pPr>
            <a:r>
              <a:rPr lang="en-ZA" b="1" dirty="0"/>
              <a:t>Let's break down what's happening line by line:</a:t>
            </a:r>
          </a:p>
          <a:p>
            <a:pPr lvl="0"/>
            <a:r>
              <a:rPr lang="en-ZA" dirty="0"/>
              <a:t>class Dog: — this starts the class definition. Dog is the name of our blueprint.</a:t>
            </a:r>
          </a:p>
          <a:p>
            <a:pPr lvl="0"/>
            <a:r>
              <a:rPr lang="en-ZA" dirty="0"/>
              <a:t>def __</a:t>
            </a:r>
            <a:r>
              <a:rPr lang="en-ZA" dirty="0" err="1"/>
              <a:t>init</a:t>
            </a:r>
            <a:r>
              <a:rPr lang="en-ZA" dirty="0"/>
              <a:t>__(self, name, breed): — this is a special method that sets up the initial data whenever the blueprint gets used. name and breed are the attributes this class will hold.</a:t>
            </a:r>
          </a:p>
          <a:p>
            <a:pPr lvl="0"/>
            <a:r>
              <a:rPr lang="en-ZA" dirty="0"/>
              <a:t>self.name = name and </a:t>
            </a:r>
            <a:r>
              <a:rPr lang="en-ZA" dirty="0" err="1"/>
              <a:t>self.breed</a:t>
            </a:r>
            <a:r>
              <a:rPr lang="en-ZA" dirty="0"/>
              <a:t> = breed — these lines store the given name and breed as part of the class's structure.</a:t>
            </a:r>
          </a:p>
          <a:p>
            <a:pPr lvl="0"/>
            <a:r>
              <a:rPr lang="en-ZA" dirty="0"/>
              <a:t>def bark(self): — this defines a method, an action the class can perform.</a:t>
            </a:r>
          </a:p>
          <a:p>
            <a:pPr lvl="0"/>
            <a:r>
              <a:rPr lang="en-ZA" dirty="0"/>
              <a:t>return f"{self.name} says Woof!" — this is what happens when bark() is called.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34874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DAFD2-CCB4-3DD1-43CD-260F97C67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F0F05-0524-B630-BC38-AE70F0469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 example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1E157-2ADB-C6EA-E149-111E4F944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dirty="0"/>
              <a:t>Now you can create actual dog objects from this class:</a:t>
            </a:r>
          </a:p>
          <a:p>
            <a:r>
              <a:rPr lang="en-ZA" dirty="0"/>
              <a:t>python</a:t>
            </a:r>
          </a:p>
          <a:p>
            <a:r>
              <a:rPr lang="en-ZA" dirty="0" err="1"/>
              <a:t>my_dog</a:t>
            </a:r>
            <a:r>
              <a:rPr lang="en-ZA" dirty="0"/>
              <a:t> = Dog("Rex", "Labrador")</a:t>
            </a:r>
          </a:p>
          <a:p>
            <a:r>
              <a:rPr lang="en-ZA" dirty="0" err="1"/>
              <a:t>your_dog</a:t>
            </a:r>
            <a:r>
              <a:rPr lang="en-ZA" dirty="0"/>
              <a:t> = Dog("Bella", "Poodle")</a:t>
            </a:r>
          </a:p>
          <a:p>
            <a:endParaRPr lang="en-ZA" dirty="0"/>
          </a:p>
          <a:p>
            <a:r>
              <a:rPr lang="en-ZA" dirty="0"/>
              <a:t>print(</a:t>
            </a:r>
            <a:r>
              <a:rPr lang="en-ZA" dirty="0" err="1"/>
              <a:t>my_dog.bark</a:t>
            </a:r>
            <a:r>
              <a:rPr lang="en-ZA" dirty="0"/>
              <a:t>())    # Rex says Woof!</a:t>
            </a:r>
          </a:p>
          <a:p>
            <a:r>
              <a:rPr lang="en-ZA" dirty="0"/>
              <a:t>print(</a:t>
            </a:r>
            <a:r>
              <a:rPr lang="en-ZA" dirty="0" err="1"/>
              <a:t>your_dog.bark</a:t>
            </a:r>
            <a:r>
              <a:rPr lang="en-ZA" dirty="0"/>
              <a:t>())  # Bella says Woof!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97691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B6290-D466-6176-8C69-C32C28BC3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D782A-BE54-283D-6710-0DEBF8CC4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 example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5F553-023F-73D4-EA87-23B758D71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ZA" b="1" dirty="0"/>
              <a:t>Line 1:</a:t>
            </a:r>
            <a:r>
              <a:rPr lang="en-ZA" dirty="0"/>
              <a:t> </a:t>
            </a:r>
            <a:r>
              <a:rPr lang="en-ZA" dirty="0" err="1"/>
              <a:t>my_dog</a:t>
            </a:r>
            <a:r>
              <a:rPr lang="en-ZA" dirty="0"/>
              <a:t> = Dog("Rex", "Labrador")</a:t>
            </a:r>
          </a:p>
          <a:p>
            <a:pPr lvl="0"/>
            <a:r>
              <a:rPr lang="en-ZA" dirty="0"/>
              <a:t>This creates a real dog using the Dog blueprint</a:t>
            </a:r>
          </a:p>
          <a:p>
            <a:pPr lvl="0"/>
            <a:r>
              <a:rPr lang="en-ZA" dirty="0"/>
              <a:t>"Rex" becomes the name, "Labrador" becomes the breed</a:t>
            </a:r>
          </a:p>
          <a:p>
            <a:pPr lvl="0"/>
            <a:r>
              <a:rPr lang="en-ZA" dirty="0"/>
              <a:t>This real dog is stored in a variable called </a:t>
            </a:r>
            <a:r>
              <a:rPr lang="en-ZA" dirty="0" err="1"/>
              <a:t>my_dog</a:t>
            </a:r>
            <a:endParaRPr lang="en-ZA" dirty="0"/>
          </a:p>
          <a:p>
            <a:pPr marL="0" indent="0">
              <a:buNone/>
            </a:pPr>
            <a:r>
              <a:rPr lang="en-ZA" b="1" dirty="0"/>
              <a:t>Line 2:</a:t>
            </a:r>
            <a:r>
              <a:rPr lang="en-ZA" dirty="0"/>
              <a:t> </a:t>
            </a:r>
            <a:r>
              <a:rPr lang="en-ZA" dirty="0" err="1"/>
              <a:t>your_dog</a:t>
            </a:r>
            <a:r>
              <a:rPr lang="en-ZA" dirty="0"/>
              <a:t> = Dog("Bella", "Poodle")</a:t>
            </a:r>
          </a:p>
          <a:p>
            <a:pPr lvl="0"/>
            <a:r>
              <a:rPr lang="en-ZA" dirty="0"/>
              <a:t>Same thing, but a separate dog</a:t>
            </a:r>
          </a:p>
          <a:p>
            <a:pPr lvl="0"/>
            <a:r>
              <a:rPr lang="en-ZA" dirty="0"/>
              <a:t>"Bella" is the name, "Poodle" is the breed</a:t>
            </a:r>
          </a:p>
          <a:p>
            <a:pPr lvl="0"/>
            <a:r>
              <a:rPr lang="en-ZA" dirty="0"/>
              <a:t>Stored in a different variable, </a:t>
            </a:r>
            <a:r>
              <a:rPr lang="en-ZA" dirty="0" err="1"/>
              <a:t>your_dog</a:t>
            </a:r>
            <a:endParaRPr lang="en-ZA" dirty="0"/>
          </a:p>
          <a:p>
            <a:pPr lvl="0"/>
            <a:r>
              <a:rPr lang="en-ZA" dirty="0"/>
              <a:t>This dog is completely separate from </a:t>
            </a:r>
            <a:r>
              <a:rPr lang="en-ZA" dirty="0" err="1"/>
              <a:t>my_dog</a:t>
            </a:r>
            <a:r>
              <a:rPr lang="en-ZA" dirty="0"/>
              <a:t> — they don't share data</a:t>
            </a:r>
          </a:p>
          <a:p>
            <a:pPr marL="0" indent="0">
              <a:buNone/>
            </a:pPr>
            <a:r>
              <a:rPr lang="en-ZA" b="1" dirty="0"/>
              <a:t>Line 3:</a:t>
            </a:r>
            <a:r>
              <a:rPr lang="en-ZA" dirty="0"/>
              <a:t> print(</a:t>
            </a:r>
            <a:r>
              <a:rPr lang="en-ZA" dirty="0" err="1"/>
              <a:t>my_dog.bark</a:t>
            </a:r>
            <a:r>
              <a:rPr lang="en-ZA" dirty="0"/>
              <a:t>())</a:t>
            </a:r>
          </a:p>
          <a:p>
            <a:pPr lvl="0"/>
            <a:r>
              <a:rPr lang="en-ZA" dirty="0"/>
              <a:t>This calls the bark() method on </a:t>
            </a:r>
            <a:r>
              <a:rPr lang="en-ZA" dirty="0" err="1"/>
              <a:t>my_dog</a:t>
            </a:r>
            <a:endParaRPr lang="en-ZA" dirty="0"/>
          </a:p>
          <a:p>
            <a:pPr lvl="0"/>
            <a:r>
              <a:rPr lang="en-ZA" dirty="0"/>
              <a:t>It runs the method using </a:t>
            </a:r>
            <a:r>
              <a:rPr lang="en-ZA" dirty="0" err="1"/>
              <a:t>my_dog's</a:t>
            </a:r>
            <a:r>
              <a:rPr lang="en-ZA" dirty="0"/>
              <a:t> own name, so it returns "Rex says Woof!"</a:t>
            </a:r>
          </a:p>
          <a:p>
            <a:pPr lvl="0"/>
            <a:r>
              <a:rPr lang="en-ZA" dirty="0"/>
              <a:t>print() then displays that text</a:t>
            </a:r>
          </a:p>
          <a:p>
            <a:pPr marL="0" indent="0">
              <a:buNone/>
            </a:pPr>
            <a:r>
              <a:rPr lang="en-ZA" b="1" dirty="0"/>
              <a:t>Line 4:</a:t>
            </a:r>
            <a:r>
              <a:rPr lang="en-ZA" dirty="0"/>
              <a:t> print(</a:t>
            </a:r>
            <a:r>
              <a:rPr lang="en-ZA" dirty="0" err="1"/>
              <a:t>your_dog.bark</a:t>
            </a:r>
            <a:r>
              <a:rPr lang="en-ZA" dirty="0"/>
              <a:t>())</a:t>
            </a:r>
          </a:p>
          <a:p>
            <a:pPr lvl="0"/>
            <a:r>
              <a:rPr lang="en-ZA" dirty="0"/>
              <a:t>Same idea, but using </a:t>
            </a:r>
            <a:r>
              <a:rPr lang="en-ZA" dirty="0" err="1"/>
              <a:t>your_dog's</a:t>
            </a:r>
            <a:r>
              <a:rPr lang="en-ZA" dirty="0"/>
              <a:t> info</a:t>
            </a:r>
          </a:p>
          <a:p>
            <a:pPr lvl="0"/>
            <a:r>
              <a:rPr lang="en-ZA" dirty="0"/>
              <a:t>Returns "Bella says Woof!"</a:t>
            </a:r>
          </a:p>
          <a:p>
            <a:pPr marL="0" indent="0">
              <a:buNone/>
            </a:pPr>
            <a:r>
              <a:rPr lang="en-ZA" b="1" dirty="0"/>
              <a:t>The big idea:</a:t>
            </a:r>
            <a:endParaRPr lang="en-ZA" dirty="0"/>
          </a:p>
          <a:p>
            <a:pPr lvl="0"/>
            <a:r>
              <a:rPr lang="en-ZA" dirty="0"/>
              <a:t>One class (Dog) was used to create two separate real dogs</a:t>
            </a:r>
          </a:p>
          <a:p>
            <a:pPr lvl="0"/>
            <a:r>
              <a:rPr lang="en-ZA" dirty="0"/>
              <a:t>Each one keeps its own name and breed, even though they came from the same blueprint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42375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27FD4-FEF1-45C2-9224-D6F888BA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Objects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87D63-AAD9-B916-8726-04C142764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en-ZA" dirty="0"/>
              <a:t>An object is a real thing created from a class</a:t>
            </a:r>
          </a:p>
          <a:p>
            <a:pPr lvl="0"/>
            <a:r>
              <a:rPr lang="en-ZA" dirty="0"/>
              <a:t>The class is the blueprint; the object is the actual built thing</a:t>
            </a:r>
          </a:p>
          <a:p>
            <a:pPr lvl="0"/>
            <a:r>
              <a:rPr lang="en-ZA" dirty="0"/>
              <a:t>Creating an object from a class is called "instantiation" — you're making an "instance" of that class</a:t>
            </a:r>
          </a:p>
          <a:p>
            <a:pPr marL="0" indent="0">
              <a:buNone/>
            </a:pPr>
            <a:r>
              <a:rPr lang="en-ZA" b="1" dirty="0"/>
              <a:t>Going back to our Dog class:</a:t>
            </a:r>
            <a:endParaRPr lang="en-ZA" dirty="0"/>
          </a:p>
          <a:p>
            <a:r>
              <a:rPr lang="en-ZA" dirty="0"/>
              <a:t>python</a:t>
            </a:r>
          </a:p>
          <a:p>
            <a:r>
              <a:rPr lang="en-ZA" dirty="0"/>
              <a:t>class Dog:</a:t>
            </a:r>
          </a:p>
          <a:p>
            <a:r>
              <a:rPr lang="en-ZA" dirty="0"/>
              <a:t>    def __</a:t>
            </a:r>
            <a:r>
              <a:rPr lang="en-ZA" dirty="0" err="1"/>
              <a:t>init</a:t>
            </a:r>
            <a:r>
              <a:rPr lang="en-ZA" dirty="0"/>
              <a:t>__(self, name, breed):</a:t>
            </a:r>
          </a:p>
          <a:p>
            <a:r>
              <a:rPr lang="en-ZA" dirty="0"/>
              <a:t>        self.name = name</a:t>
            </a:r>
          </a:p>
          <a:p>
            <a:r>
              <a:rPr lang="en-ZA" dirty="0"/>
              <a:t>        </a:t>
            </a:r>
            <a:r>
              <a:rPr lang="en-ZA" dirty="0" err="1"/>
              <a:t>self.breed</a:t>
            </a:r>
            <a:r>
              <a:rPr lang="en-ZA" dirty="0"/>
              <a:t> = breed</a:t>
            </a:r>
          </a:p>
          <a:p>
            <a:endParaRPr lang="en-ZA" dirty="0"/>
          </a:p>
          <a:p>
            <a:r>
              <a:rPr lang="en-ZA" dirty="0"/>
              <a:t>    def bark(self):</a:t>
            </a:r>
          </a:p>
          <a:p>
            <a:r>
              <a:rPr lang="en-ZA" dirty="0"/>
              <a:t>        return f"{self.name} says Woof!"</a:t>
            </a:r>
          </a:p>
          <a:p>
            <a:r>
              <a:rPr lang="en-ZA" dirty="0"/>
              <a:t>This is still just the blueprint. No dog exists yet.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31876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10050-3C62-B171-9430-0502F67C3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E9314-0AFE-9662-8D25-876183F43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Objects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6D855-D404-37DB-3EBB-B4504F065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ZA" b="1" dirty="0"/>
              <a:t>Now we create objects:</a:t>
            </a:r>
            <a:endParaRPr lang="en-ZA" dirty="0"/>
          </a:p>
          <a:p>
            <a:r>
              <a:rPr lang="en-ZA" dirty="0"/>
              <a:t>python</a:t>
            </a:r>
          </a:p>
          <a:p>
            <a:r>
              <a:rPr lang="en-ZA" dirty="0" err="1"/>
              <a:t>my_dog</a:t>
            </a:r>
            <a:r>
              <a:rPr lang="en-ZA" dirty="0"/>
              <a:t> = Dog("Rex", "Labrador")</a:t>
            </a:r>
          </a:p>
          <a:p>
            <a:r>
              <a:rPr lang="en-ZA" dirty="0" err="1"/>
              <a:t>your_dog</a:t>
            </a:r>
            <a:r>
              <a:rPr lang="en-ZA" dirty="0"/>
              <a:t> = Dog("Bella", "Poodle")</a:t>
            </a:r>
          </a:p>
          <a:p>
            <a:pPr lvl="0"/>
            <a:r>
              <a:rPr lang="en-ZA" dirty="0"/>
              <a:t>Dog("Rex", "Labrador") builds a real dog using the blueprint</a:t>
            </a:r>
          </a:p>
          <a:p>
            <a:pPr lvl="0"/>
            <a:r>
              <a:rPr lang="en-ZA" dirty="0"/>
              <a:t>That real dog gets stored in the variable </a:t>
            </a:r>
            <a:r>
              <a:rPr lang="en-ZA" dirty="0" err="1"/>
              <a:t>my_dog</a:t>
            </a:r>
            <a:endParaRPr lang="en-ZA" dirty="0"/>
          </a:p>
          <a:p>
            <a:pPr lvl="0"/>
            <a:r>
              <a:rPr lang="en-ZA" dirty="0" err="1"/>
              <a:t>your_dog</a:t>
            </a:r>
            <a:r>
              <a:rPr lang="en-ZA" dirty="0"/>
              <a:t> is a second, separate real dog, built from the same blueprint</a:t>
            </a:r>
          </a:p>
          <a:p>
            <a:pPr marL="0" indent="0">
              <a:buNone/>
            </a:pPr>
            <a:r>
              <a:rPr lang="en-ZA" b="1" dirty="0"/>
              <a:t>Key idea — objects are independent:</a:t>
            </a:r>
            <a:endParaRPr lang="en-ZA" dirty="0"/>
          </a:p>
          <a:p>
            <a:pPr lvl="0"/>
            <a:r>
              <a:rPr lang="en-ZA" dirty="0" err="1"/>
              <a:t>my_dog</a:t>
            </a:r>
            <a:r>
              <a:rPr lang="en-ZA" dirty="0"/>
              <a:t> and </a:t>
            </a:r>
            <a:r>
              <a:rPr lang="en-ZA" dirty="0" err="1"/>
              <a:t>your_dog</a:t>
            </a:r>
            <a:r>
              <a:rPr lang="en-ZA" dirty="0"/>
              <a:t> both came from Dog, but they don't share data</a:t>
            </a:r>
          </a:p>
          <a:p>
            <a:pPr lvl="0"/>
            <a:r>
              <a:rPr lang="en-ZA" dirty="0"/>
              <a:t>my_dog.name is "Rex", your_dog.name is "Bella" — changing one never touches the other</a:t>
            </a:r>
          </a:p>
          <a:p>
            <a:pPr lvl="0"/>
            <a:r>
              <a:rPr lang="en-ZA" dirty="0"/>
              <a:t>Each object has its own copy of the attributes defined by the class</a:t>
            </a:r>
          </a:p>
          <a:p>
            <a:pPr lvl="0"/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17118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DBE2B-C187-26E4-7F71-7674EED3E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60E00-5D0F-7445-5A2B-DD40908F7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Objects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874AF-165D-E079-9D28-F1DDA560E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ZA" b="1" dirty="0"/>
              <a:t>Calling a method on an object:</a:t>
            </a:r>
            <a:endParaRPr lang="en-ZA" dirty="0"/>
          </a:p>
          <a:p>
            <a:r>
              <a:rPr lang="en-ZA" dirty="0"/>
              <a:t>python</a:t>
            </a:r>
          </a:p>
          <a:p>
            <a:r>
              <a:rPr lang="en-ZA" dirty="0"/>
              <a:t>print(</a:t>
            </a:r>
            <a:r>
              <a:rPr lang="en-ZA" dirty="0" err="1"/>
              <a:t>my_dog.bark</a:t>
            </a:r>
            <a:r>
              <a:rPr lang="en-ZA" dirty="0"/>
              <a:t>())    			# Rex says Woof!</a:t>
            </a:r>
          </a:p>
          <a:p>
            <a:r>
              <a:rPr lang="en-ZA" dirty="0"/>
              <a:t>print(</a:t>
            </a:r>
            <a:r>
              <a:rPr lang="en-ZA" dirty="0" err="1"/>
              <a:t>your_dog.bark</a:t>
            </a:r>
            <a:r>
              <a:rPr lang="en-ZA" dirty="0"/>
              <a:t>())  			# Bella says Woof!</a:t>
            </a:r>
          </a:p>
          <a:p>
            <a:pPr lvl="0"/>
            <a:r>
              <a:rPr lang="en-ZA" dirty="0"/>
              <a:t>.bark() uses whatever data that </a:t>
            </a:r>
            <a:r>
              <a:rPr lang="en-ZA" i="1" dirty="0"/>
              <a:t>specific</a:t>
            </a:r>
            <a:r>
              <a:rPr lang="en-ZA" dirty="0"/>
              <a:t> object holds</a:t>
            </a:r>
          </a:p>
          <a:p>
            <a:pPr lvl="0"/>
            <a:r>
              <a:rPr lang="en-ZA" dirty="0"/>
              <a:t>So </a:t>
            </a:r>
            <a:r>
              <a:rPr lang="en-ZA" dirty="0" err="1"/>
              <a:t>my_dog.bark</a:t>
            </a:r>
            <a:r>
              <a:rPr lang="en-ZA" dirty="0"/>
              <a:t>() uses Rex's name, </a:t>
            </a:r>
            <a:r>
              <a:rPr lang="en-ZA" dirty="0" err="1"/>
              <a:t>your_dog.bark</a:t>
            </a:r>
            <a:r>
              <a:rPr lang="en-ZA" dirty="0"/>
              <a:t>() uses Bella's name</a:t>
            </a:r>
          </a:p>
          <a:p>
            <a:pPr marL="0" indent="0">
              <a:buNone/>
            </a:pPr>
            <a:r>
              <a:rPr lang="en-ZA" b="1" dirty="0"/>
              <a:t>Simple mental note:</a:t>
            </a:r>
            <a:endParaRPr lang="en-ZA" dirty="0"/>
          </a:p>
          <a:p>
            <a:pPr lvl="0"/>
            <a:r>
              <a:rPr lang="en-ZA" dirty="0"/>
              <a:t>Class = the plan (one)</a:t>
            </a:r>
          </a:p>
          <a:p>
            <a:pPr lvl="0"/>
            <a:r>
              <a:rPr lang="en-ZA" dirty="0"/>
              <a:t>Object = a real thing built from the plan (can be many, each separate)</a:t>
            </a:r>
          </a:p>
          <a:p>
            <a:pPr lvl="0"/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03148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0F6C7-6F45-1BFC-E933-780FA85A8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456C3-211E-81F6-B4DA-8DA68FE8B7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Understanding </a:t>
            </a:r>
            <a:r>
              <a:rPr lang="en-GB" b="1" dirty="0" err="1"/>
              <a:t>init</a:t>
            </a:r>
            <a:r>
              <a:rPr lang="en-GB" b="1" dirty="0"/>
              <a:t>() Method and ‘self’ Parameter</a:t>
            </a:r>
            <a:endParaRPr lang="en-ZA" b="1" dirty="0"/>
          </a:p>
        </p:txBody>
      </p:sp>
    </p:spTree>
    <p:extLst>
      <p:ext uri="{BB962C8B-B14F-4D97-AF65-F5344CB8AC3E}">
        <p14:creationId xmlns:p14="http://schemas.microsoft.com/office/powerpoint/2010/main" val="28743715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7B6AC-FB66-06AF-FAAE-EBB7B89C0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6059A-7EF5-7B2A-64E7-A603785E9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88668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75ACB-9230-ED0E-81A0-902FC098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84A1E-9E84-82D0-23E5-90500ECFC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66713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EEFB3-F077-DD61-F759-174972927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1872A-F12F-EE3C-028C-DEB3614FD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706216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112F0-F87E-4EF2-6770-1CA25BCA3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B4E7F-CCC8-CCE7-08FB-5B53351BE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61300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48BC4-0602-EB95-258D-07382D611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0DF4D-183B-0D10-752E-6864D6324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452432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5EBFD-97A2-75D4-4246-D2177E546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0A28B-30C0-4D6C-25F8-B0B16D7D6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061667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1C12E-DFEA-45A9-F1D6-17D7C4AF9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B4211-10E3-49C7-980A-515508416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46816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D6383-7564-1C99-AC37-4752AFBAA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D0506-5517-F2EB-66AE-426C88A5D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265189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3B344-52E6-2007-7630-DF7C0EE02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254E7-C2F5-C780-0BC3-6815FF67F2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Solving Task: OOPS</a:t>
            </a:r>
            <a:endParaRPr lang="en-ZA" b="1" dirty="0"/>
          </a:p>
        </p:txBody>
      </p:sp>
    </p:spTree>
    <p:extLst>
      <p:ext uri="{BB962C8B-B14F-4D97-AF65-F5344CB8AC3E}">
        <p14:creationId xmlns:p14="http://schemas.microsoft.com/office/powerpoint/2010/main" val="21501001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9F188-A89D-93FD-6020-BFC0C0E94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1545E-D9B7-9C30-F64A-45DF2E73B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345247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F01BD-8B40-B0F6-5797-C76B048A5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4FBC6-BFE9-33B1-1D5A-559F55BCC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814365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606C0-B04E-DD9B-A1E2-2AC8C77AF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E32CF-4A68-E32A-6599-16E6B4269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164694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2B6E0-1B8A-2AB8-4AEC-0C28A8DE7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33425-6483-2511-C3CF-B5A5A475D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878667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A256D-03D7-8CC7-E6A5-0F0B47E7A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404A5-1F9A-2B79-CED8-96B544F54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812444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D526A-B47E-691B-8084-E5A559DE8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E2E46-E1B4-9B67-DD42-0981CD1E22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Defining Multiple constructors in Python</a:t>
            </a:r>
            <a:endParaRPr lang="en-ZA" b="1" dirty="0"/>
          </a:p>
        </p:txBody>
      </p:sp>
    </p:spTree>
    <p:extLst>
      <p:ext uri="{BB962C8B-B14F-4D97-AF65-F5344CB8AC3E}">
        <p14:creationId xmlns:p14="http://schemas.microsoft.com/office/powerpoint/2010/main" val="11560651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3637A-5792-D16F-60AB-EBFC93C4A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66871-AC98-0E60-130D-628CA01F8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5139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E54EF-B87B-004F-D4E3-EFC28A04E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CA10A-B89C-67D2-E5B9-D44EBF08D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591763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98A09-5F0B-9910-031C-99A67EC65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5946A-3769-2E28-0B4D-CB8E45FEE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11257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BF7CB-0ECC-5087-9711-2A1F0B7B4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10E2C-55BC-C1B9-9A48-EA9C8B63B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171235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178AD-2897-26A7-0B2C-4D2B4FDAF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63D1D-85F3-D792-36CD-69D6DF51C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67501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970</TotalTime>
  <Words>1943</Words>
  <Application>Microsoft Office PowerPoint</Application>
  <PresentationFormat>Widescreen</PresentationFormat>
  <Paragraphs>215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Aptos</vt:lpstr>
      <vt:lpstr>Aptos Display</vt:lpstr>
      <vt:lpstr>Arial</vt:lpstr>
      <vt:lpstr>Office Theme</vt:lpstr>
      <vt:lpstr>Introduction to Object-Oriented Programming (OOP)</vt:lpstr>
      <vt:lpstr>Programming paradigms</vt:lpstr>
      <vt:lpstr>Programming paradigms</vt:lpstr>
      <vt:lpstr>Programming paradigms</vt:lpstr>
      <vt:lpstr>Programming paradigms</vt:lpstr>
      <vt:lpstr>Four core pillars of OOP</vt:lpstr>
      <vt:lpstr>Four core pillars of OOP</vt:lpstr>
      <vt:lpstr>Four core pillars of OOP</vt:lpstr>
      <vt:lpstr>Four core pillars of OOP</vt:lpstr>
      <vt:lpstr>Four pillars of OOP</vt:lpstr>
      <vt:lpstr>Classes and objects in Python</vt:lpstr>
      <vt:lpstr>Class </vt:lpstr>
      <vt:lpstr>Class example</vt:lpstr>
      <vt:lpstr>Class example</vt:lpstr>
      <vt:lpstr>Class example</vt:lpstr>
      <vt:lpstr>Objects </vt:lpstr>
      <vt:lpstr>Objects </vt:lpstr>
      <vt:lpstr>Objects </vt:lpstr>
      <vt:lpstr>Understanding init() Method and ‘self’ Parameter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Solving Task: OOPS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Defining Multiple constructors in Python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Lindelwa Twala</dc:creator>
  <cp:lastModifiedBy>Lindelwa Twala</cp:lastModifiedBy>
  <cp:revision>1</cp:revision>
  <dcterms:created xsi:type="dcterms:W3CDTF">2026-09-23T17:24:39Z</dcterms:created>
  <dcterms:modified xsi:type="dcterms:W3CDTF">2026-10-01T15:10:18Z</dcterms:modified>
</cp:coreProperties>
</file>